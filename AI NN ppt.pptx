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ontserrat"/>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Lato-regular.fntdata"/><Relationship Id="rId21" Type="http://schemas.openxmlformats.org/officeDocument/2006/relationships/font" Target="fonts/Montserrat-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 Hello &amp; welcome everyone to our presentation on the neural network-based classification model for crash data.</a:t>
            </a:r>
            <a:endParaRPr/>
          </a:p>
          <a:p>
            <a:pPr indent="0" lvl="0" marL="0" rtl="0" algn="l">
              <a:spcBef>
                <a:spcPts val="0"/>
              </a:spcBef>
              <a:spcAft>
                <a:spcPts val="0"/>
              </a:spcAft>
              <a:buClr>
                <a:schemeClr val="dk1"/>
              </a:buClr>
              <a:buSzPts val="1100"/>
              <a:buFont typeface="Arial"/>
              <a:buNone/>
            </a:pPr>
            <a:r>
              <a:rPr lang="en-GB"/>
              <a:t>*   This project was undertaken as part of the requirements for the Neural Network-Based Classification assignment.</a:t>
            </a:r>
            <a:endParaRPr/>
          </a:p>
          <a:p>
            <a:pPr indent="0" lvl="0" marL="0" rtl="0" algn="l">
              <a:spcBef>
                <a:spcPts val="0"/>
              </a:spcBef>
              <a:spcAft>
                <a:spcPts val="0"/>
              </a:spcAft>
              <a:buClr>
                <a:schemeClr val="dk1"/>
              </a:buClr>
              <a:buSzPts val="1100"/>
              <a:buFont typeface="Arial"/>
              <a:buNone/>
            </a:pPr>
            <a:r>
              <a:rPr lang="en-GB"/>
              <a:t>*   Today, I will walk you through the process of building, training, and evaluating this model.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2c3cb08c89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2c3cb08c8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GB"/>
              <a:t>The main goal of this project was to create a model that can accurately predict the type of accident, which could be useful for various purposes, such as resource allocation for emergency services.</a:t>
            </a:r>
            <a:endParaRPr/>
          </a:p>
          <a:p>
            <a:pPr indent="-298450" lvl="0" marL="457200" rtl="0" algn="l">
              <a:spcBef>
                <a:spcPts val="0"/>
              </a:spcBef>
              <a:spcAft>
                <a:spcPts val="0"/>
              </a:spcAft>
              <a:buSzPts val="1100"/>
              <a:buChar char="➔"/>
            </a:pPr>
            <a:r>
              <a:rPr lang="en-GB"/>
              <a:t>we will start by understanding the data, then move on to how we prepared it for the model. After that, we will look at the model's architecture and its performance. Finally, we will conclude with a summary and some recommendations.</a:t>
            </a:r>
            <a:endParaRPr/>
          </a:p>
          <a:p>
            <a:pPr indent="-298450" lvl="0" marL="457200" rtl="0" algn="l">
              <a:spcBef>
                <a:spcPts val="0"/>
              </a:spcBef>
              <a:spcAft>
                <a:spcPts val="0"/>
              </a:spcAft>
              <a:buSzPts val="1100"/>
              <a:buChar char="➔"/>
            </a:pPr>
            <a:r>
              <a:rPr lang="en-GB"/>
              <a:t>I will be highlighting the key findings and decisions made at each step of the process.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2c3cb08c8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2c3cb08c8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Let's start by looking at the data. We began with a dataset of over 60,000 records and 54 features.</a:t>
            </a:r>
            <a:endParaRPr/>
          </a:p>
          <a:p>
            <a:pPr indent="-298450" lvl="0" marL="457200" rtl="0" algn="l">
              <a:spcBef>
                <a:spcPts val="0"/>
              </a:spcBef>
              <a:spcAft>
                <a:spcPts val="0"/>
              </a:spcAft>
              <a:buSzPts val="1100"/>
              <a:buChar char="➔"/>
            </a:pPr>
            <a:r>
              <a:rPr lang="en-GB"/>
              <a:t>The features were a mix of numerical and categorical data.</a:t>
            </a:r>
            <a:endParaRPr/>
          </a:p>
          <a:p>
            <a:pPr indent="-298450" lvl="0" marL="457200" rtl="0" algn="l">
              <a:spcBef>
                <a:spcPts val="0"/>
              </a:spcBef>
              <a:spcAft>
                <a:spcPts val="0"/>
              </a:spcAft>
              <a:buSzPts val="1100"/>
              <a:buChar char="➔"/>
            </a:pPr>
            <a:r>
              <a:rPr lang="en-GB"/>
              <a:t>A major challenge was the presence of a large number of missing values. Our strategy was to drop columns that were mostly empty and then impute the rest.</a:t>
            </a:r>
            <a:endParaRPr/>
          </a:p>
          <a:p>
            <a:pPr indent="-298450" lvl="0" marL="457200" rtl="0" algn="l">
              <a:spcBef>
                <a:spcPts val="0"/>
              </a:spcBef>
              <a:spcAft>
                <a:spcPts val="0"/>
              </a:spcAft>
              <a:buSzPts val="1100"/>
              <a:buChar char="➔"/>
            </a:pPr>
            <a:r>
              <a:rPr lang="en-GB"/>
              <a:t>On the bright side, the data was clean in terms of duplicate records.</a:t>
            </a:r>
            <a:endParaRPr/>
          </a:p>
          <a:p>
            <a:pPr indent="-298450" lvl="0" marL="457200" rtl="0" algn="l">
              <a:spcBef>
                <a:spcPts val="0"/>
              </a:spcBef>
              <a:spcAft>
                <a:spcPts val="0"/>
              </a:spcAft>
              <a:buSzPts val="1100"/>
              <a:buChar char="➔"/>
            </a:pPr>
            <a:r>
              <a:rPr lang="en-GB"/>
              <a:t>The chart on the right shows the distribution of our target variable, 'Accident Type'. As you can see, the classes are quite imbalanced, with 'Minor' and 'PDO' (Property Damage Only) being the most frequent. This is a crucial point that we will address later.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2c3cb08c89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2c3cb08c89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a:t>
            </a:r>
            <a:r>
              <a:rPr lang="en-GB"/>
              <a:t>or further understanding the data, we visualized the distributions of features and the correlations between them.</a:t>
            </a:r>
            <a:endParaRPr/>
          </a:p>
          <a:p>
            <a:pPr indent="0" lvl="0" marL="0" rtl="0" algn="l">
              <a:spcBef>
                <a:spcPts val="0"/>
              </a:spcBef>
              <a:spcAft>
                <a:spcPts val="0"/>
              </a:spcAft>
              <a:buClr>
                <a:schemeClr val="dk1"/>
              </a:buClr>
              <a:buSzPts val="1100"/>
              <a:buFont typeface="Arial"/>
              <a:buNone/>
            </a:pPr>
            <a:r>
              <a:t/>
            </a:r>
            <a:endParaRPr/>
          </a:p>
          <a:p>
            <a:pPr indent="-298450" lvl="0" marL="457200" rtl="0" algn="l">
              <a:spcBef>
                <a:spcPts val="0"/>
              </a:spcBef>
              <a:spcAft>
                <a:spcPts val="0"/>
              </a:spcAft>
              <a:buSzPts val="1100"/>
              <a:buChar char="➔"/>
            </a:pPr>
            <a:r>
              <a:rPr lang="en-GB"/>
              <a:t>The feature distributions on the left gave us insights into the characteristics of each feature, such as the age of the drivers or the year of service of the vehicles.</a:t>
            </a:r>
            <a:endParaRPr/>
          </a:p>
          <a:p>
            <a:pPr indent="-298450" lvl="0" marL="457200" rtl="0" algn="l">
              <a:spcBef>
                <a:spcPts val="0"/>
              </a:spcBef>
              <a:spcAft>
                <a:spcPts val="0"/>
              </a:spcAft>
              <a:buSzPts val="1100"/>
              <a:buChar char="➔"/>
            </a:pPr>
            <a:r>
              <a:rPr lang="en-GB"/>
              <a:t>The correlation heatmap on the right helped us identify relationships between numeric variables. For example, as expected, there is a strong positive correlation between a driver's age and their years of experience.</a:t>
            </a:r>
            <a:endParaRPr/>
          </a:p>
          <a:p>
            <a:pPr indent="-298450" lvl="0" marL="457200" rtl="0" algn="l">
              <a:spcBef>
                <a:spcPts val="0"/>
              </a:spcBef>
              <a:spcAft>
                <a:spcPts val="0"/>
              </a:spcAft>
              <a:buSzPts val="1100"/>
              <a:buChar char="➔"/>
            </a:pPr>
            <a:r>
              <a:rPr lang="en-GB"/>
              <a:t> Th</a:t>
            </a:r>
            <a:r>
              <a:rPr lang="en-GB"/>
              <a:t>ese analyses were vital for our data preparation and feature engineering decisions.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2c3cb08c89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2c3cb08c89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Preparing the data for the neural network was a critical step. We established a preprocessing pipeline to handle the challenges we identified in the data.</a:t>
            </a:r>
            <a:endParaRPr/>
          </a:p>
          <a:p>
            <a:pPr indent="-298450" lvl="0" marL="457200" rtl="0" algn="l">
              <a:spcBef>
                <a:spcPts val="0"/>
              </a:spcBef>
              <a:spcAft>
                <a:spcPts val="0"/>
              </a:spcAft>
              <a:buSzPts val="1100"/>
              <a:buChar char="➔"/>
            </a:pPr>
            <a:r>
              <a:rPr lang="en-GB"/>
              <a:t> First, we dealt with missing values by dropping sparse columns and imputing the rest.</a:t>
            </a:r>
            <a:endParaRPr/>
          </a:p>
          <a:p>
            <a:pPr indent="-298450" lvl="0" marL="457200" rtl="0" algn="l">
              <a:spcBef>
                <a:spcPts val="0"/>
              </a:spcBef>
              <a:spcAft>
                <a:spcPts val="0"/>
              </a:spcAft>
              <a:buSzPts val="1100"/>
              <a:buChar char="➔"/>
            </a:pPr>
            <a:r>
              <a:rPr lang="en-GB"/>
              <a:t> Next, we converted all categorical features into a numerical format that the model can understand, using a mix of encoding strategies based on the number of unique values in each feature.</a:t>
            </a:r>
            <a:endParaRPr/>
          </a:p>
          <a:p>
            <a:pPr indent="-298450" lvl="0" marL="457200" rtl="0" algn="l">
              <a:spcBef>
                <a:spcPts val="0"/>
              </a:spcBef>
              <a:spcAft>
                <a:spcPts val="0"/>
              </a:spcAft>
              <a:buSzPts val="1100"/>
              <a:buChar char="➔"/>
            </a:pPr>
            <a:r>
              <a:rPr lang="en-GB"/>
              <a:t>Then, we scaled all our numeric features so that they are on the same scale. This is very important for neural networks.</a:t>
            </a:r>
            <a:endParaRPr/>
          </a:p>
          <a:p>
            <a:pPr indent="-298450" lvl="0" marL="457200" rtl="0" algn="l">
              <a:spcBef>
                <a:spcPts val="0"/>
              </a:spcBef>
              <a:spcAft>
                <a:spcPts val="0"/>
              </a:spcAft>
              <a:buSzPts val="1100"/>
              <a:buChar char="➔"/>
            </a:pPr>
            <a:r>
              <a:rPr lang="en-GB"/>
              <a:t> Finally, we split our data into training, validation, and test sets. We used a stratified split to ensure that the proportion of each accident type was the same in all three sets, which is important given the class imbalance we saw earlier.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2c3cb08c89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2c3cb08c89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500"/>
              <a:t> Now let's look at the neural network architecture.</a:t>
            </a:r>
            <a:endParaRPr sz="1500"/>
          </a:p>
          <a:p>
            <a:pPr indent="-323850" lvl="0" marL="457200" rtl="0" algn="l">
              <a:spcBef>
                <a:spcPts val="0"/>
              </a:spcBef>
              <a:spcAft>
                <a:spcPts val="0"/>
              </a:spcAft>
              <a:buSzPts val="1500"/>
              <a:buChar char="➔"/>
            </a:pPr>
            <a:r>
              <a:rPr lang="en-GB" sz="1500"/>
              <a:t>The project utilizes a Feedforward Neural Network (FNN), specifically a Multi-layer Perceptron (MLP). </a:t>
            </a:r>
            <a:endParaRPr sz="1500"/>
          </a:p>
          <a:p>
            <a:pPr indent="-323850" lvl="0" marL="457200" rtl="0" algn="l">
              <a:spcBef>
                <a:spcPts val="0"/>
              </a:spcBef>
              <a:spcAft>
                <a:spcPts val="0"/>
              </a:spcAft>
              <a:buSzPts val="1500"/>
              <a:buChar char="➔"/>
            </a:pPr>
            <a:r>
              <a:rPr lang="en-GB" sz="1500"/>
              <a:t>This architecture features sequential, densely connected layers, with information flowing unidirectionally from input to output</a:t>
            </a:r>
            <a:endParaRPr sz="1500"/>
          </a:p>
          <a:p>
            <a:pPr indent="-323850" lvl="0" marL="457200" rtl="0" algn="l">
              <a:spcBef>
                <a:spcPts val="0"/>
              </a:spcBef>
              <a:spcAft>
                <a:spcPts val="0"/>
              </a:spcAft>
              <a:buSzPts val="1500"/>
              <a:buChar char="➔"/>
            </a:pPr>
            <a:r>
              <a:rPr lang="en-GB" sz="1500"/>
              <a:t>We designed a 3-layer deep neural network. The number of neurons decreases in each layer, which helps the network to learn more abstract and compressed representations of the data.</a:t>
            </a:r>
            <a:endParaRPr sz="1500"/>
          </a:p>
          <a:p>
            <a:pPr indent="-323850" lvl="0" marL="457200" rtl="0" algn="l">
              <a:spcBef>
                <a:spcPts val="0"/>
              </a:spcBef>
              <a:spcAft>
                <a:spcPts val="0"/>
              </a:spcAft>
              <a:buSzPts val="1500"/>
              <a:buChar char="➔"/>
            </a:pPr>
            <a:r>
              <a:rPr lang="en-GB" sz="1500"/>
              <a:t>We used the ReLU activation function in the hidden layers, which is a standard and effective choice for deep learning models.</a:t>
            </a:r>
            <a:endParaRPr sz="1500"/>
          </a:p>
          <a:p>
            <a:pPr indent="-323850" lvl="0" marL="457200" rtl="0" algn="l">
              <a:spcBef>
                <a:spcPts val="0"/>
              </a:spcBef>
              <a:spcAft>
                <a:spcPts val="0"/>
              </a:spcAft>
              <a:buSzPts val="1500"/>
              <a:buChar char="➔"/>
            </a:pPr>
            <a:r>
              <a:rPr lang="en-GB" sz="1500"/>
              <a:t>The output layer uses a Softmax activation function to output a probability for each of the accident types.</a:t>
            </a:r>
            <a:endParaRPr sz="1500"/>
          </a:p>
          <a:p>
            <a:pPr indent="-323850" lvl="0" marL="457200" rtl="0" algn="l">
              <a:spcBef>
                <a:spcPts val="0"/>
              </a:spcBef>
              <a:spcAft>
                <a:spcPts val="0"/>
              </a:spcAft>
              <a:buSzPts val="1500"/>
              <a:buChar char="➔"/>
            </a:pPr>
            <a:r>
              <a:rPr lang="en-GB" sz="1500"/>
              <a:t>To prevent our model from overfitting, we used a combination of three regularization techniques: L2 regularization, which penalizes large weights; Dropout, which randomly deactivates neurons during training; and Batch Normalization, which helps to stabilize the learning process.</a:t>
            </a:r>
            <a:endParaRPr sz="1500"/>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2c3cb08c89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2c3cb08c89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500"/>
              <a:t> The above image shows the training history of our model. The plots show the accuracy and loss for both the training and validation sets over the epochs.</a:t>
            </a:r>
            <a:endParaRPr sz="1500"/>
          </a:p>
          <a:p>
            <a:pPr indent="0" lvl="0" marL="0" rtl="0" algn="l">
              <a:spcBef>
                <a:spcPts val="0"/>
              </a:spcBef>
              <a:spcAft>
                <a:spcPts val="0"/>
              </a:spcAft>
              <a:buClr>
                <a:schemeClr val="dk1"/>
              </a:buClr>
              <a:buSzPts val="1100"/>
              <a:buFont typeface="Arial"/>
              <a:buNone/>
            </a:pPr>
            <a:r>
              <a:t/>
            </a:r>
            <a:endParaRPr sz="1500"/>
          </a:p>
          <a:p>
            <a:pPr indent="-323850" lvl="0" marL="457200" rtl="0" algn="l">
              <a:spcBef>
                <a:spcPts val="0"/>
              </a:spcBef>
              <a:spcAft>
                <a:spcPts val="0"/>
              </a:spcAft>
              <a:buSzPts val="1500"/>
              <a:buChar char="➔"/>
            </a:pPr>
            <a:r>
              <a:rPr lang="en-GB" sz="1500"/>
              <a:t> We used the Adam optimizer, a popular choice that works well in practice. The learning rate was initially set to 0.001, but we used a callback to reduce it if the learning process plateaued.</a:t>
            </a:r>
            <a:endParaRPr sz="1500"/>
          </a:p>
          <a:p>
            <a:pPr indent="-323850" lvl="0" marL="457200" rtl="0" algn="l">
              <a:spcBef>
                <a:spcPts val="0"/>
              </a:spcBef>
              <a:spcAft>
                <a:spcPts val="0"/>
              </a:spcAft>
              <a:buSzPts val="1500"/>
              <a:buChar char="➔"/>
            </a:pPr>
            <a:r>
              <a:rPr lang="en-GB" sz="1500"/>
              <a:t>We trained the model in batches of 32 for a maximum of 100 epochs.</a:t>
            </a:r>
            <a:endParaRPr sz="1500"/>
          </a:p>
          <a:p>
            <a:pPr indent="-323850" lvl="0" marL="457200" rtl="0" algn="l">
              <a:spcBef>
                <a:spcPts val="0"/>
              </a:spcBef>
              <a:spcAft>
                <a:spcPts val="0"/>
              </a:spcAft>
              <a:buSzPts val="1500"/>
              <a:buChar char="➔"/>
            </a:pPr>
            <a:r>
              <a:rPr lang="en-GB" sz="1500"/>
              <a:t>However, we also used Early Stopping to monitor the validation loss and stop the training if the model was no longer improving. This, along with our other regularization techniques, helped to prevent overfitting.</a:t>
            </a:r>
            <a:endParaRPr sz="1500"/>
          </a:p>
          <a:p>
            <a:pPr indent="-323850" lvl="0" marL="457200" rtl="0" algn="l">
              <a:spcBef>
                <a:spcPts val="0"/>
              </a:spcBef>
              <a:spcAft>
                <a:spcPts val="0"/>
              </a:spcAft>
              <a:buSzPts val="1500"/>
              <a:buChar char="➔"/>
            </a:pPr>
            <a:r>
              <a:rPr lang="en-GB" sz="1500"/>
              <a:t>As you can see from the plots, the training and validation curves track each other very well, which indicates that our model is generalizing well and not just memorizing the training data.</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2c3cb08c89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2c3cb08c89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500"/>
          </a:p>
          <a:p>
            <a:pPr indent="-323850" lvl="0" marL="457200" rtl="0" algn="l">
              <a:spcBef>
                <a:spcPts val="0"/>
              </a:spcBef>
              <a:spcAft>
                <a:spcPts val="0"/>
              </a:spcAft>
              <a:buSzPts val="1500"/>
              <a:buChar char="➔"/>
            </a:pPr>
            <a:r>
              <a:rPr lang="en-GB" sz="1500"/>
              <a:t>Now for the moment of truth: how did our model perform on data it has never seen before.</a:t>
            </a:r>
            <a:endParaRPr sz="1500"/>
          </a:p>
          <a:p>
            <a:pPr indent="-323850" lvl="0" marL="457200" rtl="0" algn="l">
              <a:spcBef>
                <a:spcPts val="0"/>
              </a:spcBef>
              <a:spcAft>
                <a:spcPts val="0"/>
              </a:spcAft>
              <a:buSzPts val="1500"/>
              <a:buChar char="➔"/>
            </a:pPr>
            <a:r>
              <a:rPr lang="en-GB" sz="1500"/>
              <a:t> We evaluated our final model on the test set, and the results were very encouraging.</a:t>
            </a:r>
            <a:endParaRPr sz="1500"/>
          </a:p>
          <a:p>
            <a:pPr indent="-323850" lvl="0" marL="457200" rtl="0" algn="l">
              <a:spcBef>
                <a:spcPts val="0"/>
              </a:spcBef>
              <a:spcAft>
                <a:spcPts val="0"/>
              </a:spcAft>
              <a:buSzPts val="1500"/>
              <a:buChar char="➔"/>
            </a:pPr>
            <a:r>
              <a:rPr lang="en-GB" sz="1500"/>
              <a:t>We achieved an overall accuracy of 96.7%, which means our model correctly predicted the accident type for the vast majority of cases.</a:t>
            </a:r>
            <a:endParaRPr sz="1500"/>
          </a:p>
          <a:p>
            <a:pPr indent="-323850" lvl="0" marL="457200" rtl="0" algn="l">
              <a:spcBef>
                <a:spcPts val="0"/>
              </a:spcBef>
              <a:spcAft>
                <a:spcPts val="0"/>
              </a:spcAft>
              <a:buSzPts val="1500"/>
              <a:buChar char="➔"/>
            </a:pPr>
            <a:r>
              <a:rPr lang="en-GB" sz="1500"/>
              <a:t>The weighted F1-score, precision, and recall are all around 96.6% and 96.7%, which are excellent scores and indicate that the model is both precise and robust.</a:t>
            </a:r>
            <a:endParaRPr sz="1500"/>
          </a:p>
          <a:p>
            <a:pPr indent="-323850" lvl="0" marL="457200" rtl="0" algn="l">
              <a:spcBef>
                <a:spcPts val="0"/>
              </a:spcBef>
              <a:spcAft>
                <a:spcPts val="0"/>
              </a:spcAft>
              <a:buSzPts val="1500"/>
              <a:buChar char="➔"/>
            </a:pPr>
            <a:r>
              <a:rPr lang="en-GB" sz="1500"/>
              <a:t>These high-level metrics give confidence that our model is effective.</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2c3cb08c89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2c3cb08c89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500"/>
              <a:t> To get a more detailed picture of our model's performance, we can look at the confusion matrix.</a:t>
            </a:r>
            <a:endParaRPr sz="1500"/>
          </a:p>
          <a:p>
            <a:pPr indent="-323850" lvl="0" marL="457200" rtl="0" algn="l">
              <a:spcBef>
                <a:spcPts val="0"/>
              </a:spcBef>
              <a:spcAft>
                <a:spcPts val="0"/>
              </a:spcAft>
              <a:buSzPts val="1500"/>
              <a:buChar char="➔"/>
            </a:pPr>
            <a:r>
              <a:rPr lang="en-GB" sz="1500"/>
              <a:t> This matrix shows us exactly where the model is making correct and incorrect predictions.</a:t>
            </a:r>
            <a:endParaRPr sz="1500"/>
          </a:p>
          <a:p>
            <a:pPr indent="-323850" lvl="0" marL="457200" rtl="0" algn="l">
              <a:spcBef>
                <a:spcPts val="0"/>
              </a:spcBef>
              <a:spcAft>
                <a:spcPts val="0"/>
              </a:spcAft>
              <a:buSzPts val="1500"/>
              <a:buChar char="➔"/>
            </a:pPr>
            <a:r>
              <a:rPr lang="en-GB" sz="1500"/>
              <a:t>The dark diagonal line indicates a high number of true positives, meaning the model is doing a great job of classifying most of the data.</a:t>
            </a:r>
            <a:endParaRPr sz="1500"/>
          </a:p>
          <a:p>
            <a:pPr indent="-323850" lvl="0" marL="457200" rtl="0" algn="l">
              <a:spcBef>
                <a:spcPts val="0"/>
              </a:spcBef>
              <a:spcAft>
                <a:spcPts val="0"/>
              </a:spcAft>
              <a:buSzPts val="1500"/>
              <a:buChar char="➔"/>
            </a:pPr>
            <a:r>
              <a:rPr lang="en-GB" sz="1500"/>
              <a:t> However, we can also see some areas of confusion. For example, some 'Fatal' accidents are being misclassified as 'Serious'. This is a critical insight, as these are the most severe types of accidents.</a:t>
            </a:r>
            <a:endParaRPr sz="1500"/>
          </a:p>
          <a:p>
            <a:pPr indent="-323850" lvl="0" marL="457200" rtl="0" algn="l">
              <a:spcBef>
                <a:spcPts val="0"/>
              </a:spcBef>
              <a:spcAft>
                <a:spcPts val="0"/>
              </a:spcAft>
              <a:buSzPts val="1500"/>
              <a:buChar char="➔"/>
            </a:pPr>
            <a:r>
              <a:rPr lang="en-GB" sz="1500"/>
              <a:t>This level of detail is essential for understanding the nuances of the model's performance and for identifying areas for improvement.</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2c3cb08c89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2c3cb08c89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500"/>
              <a:t>This bar chart shows the precision, recall, and F1-score for each individual accident type.</a:t>
            </a:r>
            <a:endParaRPr b="1" sz="1500"/>
          </a:p>
          <a:p>
            <a:pPr indent="-323850" lvl="0" marL="457200" rtl="0" algn="l">
              <a:spcBef>
                <a:spcPts val="0"/>
              </a:spcBef>
              <a:spcAft>
                <a:spcPts val="0"/>
              </a:spcAft>
              <a:buSzPts val="1500"/>
              <a:buChar char="➔"/>
            </a:pPr>
            <a:r>
              <a:rPr lang="en-GB" sz="1500"/>
              <a:t>As we saw in the confusion matrix, the model performs exceptionally well on the majority classes, which have a large number of examples in the dataset.</a:t>
            </a:r>
            <a:endParaRPr sz="1500"/>
          </a:p>
          <a:p>
            <a:pPr indent="-323850" lvl="0" marL="457200" rtl="0" algn="l">
              <a:spcBef>
                <a:spcPts val="0"/>
              </a:spcBef>
              <a:spcAft>
                <a:spcPts val="0"/>
              </a:spcAft>
              <a:buSzPts val="1500"/>
              <a:buChar char="➔"/>
            </a:pPr>
            <a:r>
              <a:rPr lang="en-GB" sz="1500"/>
              <a:t>However, for the minority classes, the performance is not as strong. For example, the 'Fatal' class has a lower F1-score.</a:t>
            </a:r>
            <a:endParaRPr sz="1500"/>
          </a:p>
          <a:p>
            <a:pPr indent="-323850" lvl="0" marL="457200" rtl="0" algn="l">
              <a:spcBef>
                <a:spcPts val="0"/>
              </a:spcBef>
              <a:spcAft>
                <a:spcPts val="0"/>
              </a:spcAft>
              <a:buSzPts val="1500"/>
              <a:buChar char="➔"/>
            </a:pPr>
            <a:r>
              <a:rPr lang="en-GB" sz="1500"/>
              <a:t>This is a classic example of the challenge of working with imbalanced datasets. The model is biased towards the majority classes because it has seen many more examples of them during training.</a:t>
            </a:r>
            <a:endParaRPr sz="1500"/>
          </a:p>
          <a:p>
            <a:pPr indent="-323850" lvl="0" marL="457200" rtl="0" algn="l">
              <a:spcBef>
                <a:spcPts val="0"/>
              </a:spcBef>
              <a:spcAft>
                <a:spcPts val="0"/>
              </a:spcAft>
              <a:buSzPts val="1500"/>
              <a:buChar char="➔"/>
            </a:pPr>
            <a:r>
              <a:rPr lang="en-GB" sz="1500"/>
              <a:t>Improving the performance on these minority classes is a key area for future work.</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2c3cb08c89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2c3cb08c89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500"/>
              <a:t> In conclusion, we have successfully built a high-performing neural network model for classifying accident severity.</a:t>
            </a:r>
            <a:endParaRPr sz="1500"/>
          </a:p>
          <a:p>
            <a:pPr indent="-323850" lvl="0" marL="457200" rtl="0" algn="l">
              <a:spcBef>
                <a:spcPts val="0"/>
              </a:spcBef>
              <a:spcAft>
                <a:spcPts val="0"/>
              </a:spcAft>
              <a:buSzPts val="1500"/>
              <a:buChar char="➔"/>
            </a:pPr>
            <a:r>
              <a:rPr lang="en-GB" sz="1500"/>
              <a:t>The model's high accuracy is a testament to the effectiveness of our approach. However, we also identified a key weakness in its handling of imbalanced data.</a:t>
            </a:r>
            <a:endParaRPr sz="1500"/>
          </a:p>
          <a:p>
            <a:pPr indent="-323850" lvl="0" marL="457200" rtl="0" algn="l">
              <a:spcBef>
                <a:spcPts val="0"/>
              </a:spcBef>
              <a:spcAft>
                <a:spcPts val="0"/>
              </a:spcAft>
              <a:buSzPts val="1500"/>
              <a:buChar char="➔"/>
            </a:pPr>
            <a:r>
              <a:rPr lang="en-GB" sz="1500"/>
              <a:t>For future improvement,  We can address the class imbalance issue with more advanced techniques, we can try to engineer new features to improve the model's performance, and we can also explore other model architectures and algorithms.</a:t>
            </a:r>
            <a:endParaRPr sz="1500"/>
          </a:p>
          <a:p>
            <a:pPr indent="-323850" lvl="0" marL="457200" rtl="0" algn="l">
              <a:spcBef>
                <a:spcPts val="0"/>
              </a:spcBef>
              <a:spcAft>
                <a:spcPts val="0"/>
              </a:spcAft>
              <a:buSzPts val="1500"/>
              <a:buChar char="➔"/>
            </a:pPr>
            <a:r>
              <a:rPr lang="en-GB" sz="1500"/>
              <a:t>This project has been a valuable learning experience and provided us with a solid foundation on neural networks.</a:t>
            </a:r>
            <a:endParaRPr sz="1500"/>
          </a:p>
          <a:p>
            <a:pPr indent="0" lvl="0" marL="0" rtl="0" algn="l">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2c3cb08c89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2c3cb08c89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341600" y="1782300"/>
            <a:ext cx="56133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3000"/>
              <a:t>Neural Network-Based Classification for Crash Data</a:t>
            </a:r>
            <a:endParaRPr sz="3000"/>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Instructor: Dr. Seyoum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524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Project Overview</a:t>
            </a:r>
            <a:endParaRPr b="1"/>
          </a:p>
        </p:txBody>
      </p:sp>
      <p:sp>
        <p:nvSpPr>
          <p:cNvPr id="141" name="Google Shape;141;p14"/>
          <p:cNvSpPr txBox="1"/>
          <p:nvPr>
            <p:ph idx="1" type="body"/>
          </p:nvPr>
        </p:nvSpPr>
        <p:spPr>
          <a:xfrm>
            <a:off x="710350" y="1059850"/>
            <a:ext cx="8082600" cy="39225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0"/>
              </a:spcBef>
              <a:spcAft>
                <a:spcPts val="0"/>
              </a:spcAft>
              <a:buNone/>
            </a:pPr>
            <a:r>
              <a:rPr b="1" lang="en-GB" sz="1900"/>
              <a:t> Objective :</a:t>
            </a:r>
            <a:endParaRPr b="1" sz="1900"/>
          </a:p>
          <a:p>
            <a:pPr indent="-331152" lvl="0" marL="457200" rtl="0" algn="l">
              <a:lnSpc>
                <a:spcPct val="150000"/>
              </a:lnSpc>
              <a:spcBef>
                <a:spcPts val="1200"/>
              </a:spcBef>
              <a:spcAft>
                <a:spcPts val="0"/>
              </a:spcAft>
              <a:buSzPct val="100000"/>
              <a:buChar char="●"/>
            </a:pPr>
            <a:r>
              <a:rPr lang="en-GB" sz="1900"/>
              <a:t>To build, train, and evaluate a neural network to classify the severity of vehicle accidents based on the “CrashData.xlsx”  dataset.</a:t>
            </a:r>
            <a:endParaRPr sz="1900"/>
          </a:p>
          <a:p>
            <a:pPr indent="0" lvl="0" marL="0" rtl="0" algn="l">
              <a:lnSpc>
                <a:spcPct val="150000"/>
              </a:lnSpc>
              <a:spcBef>
                <a:spcPts val="1200"/>
              </a:spcBef>
              <a:spcAft>
                <a:spcPts val="0"/>
              </a:spcAft>
              <a:buNone/>
            </a:pPr>
            <a:r>
              <a:rPr b="1" lang="en-GB" sz="1900"/>
              <a:t>Goals are to illustrate :</a:t>
            </a:r>
            <a:endParaRPr b="1" sz="1900"/>
          </a:p>
          <a:p>
            <a:pPr indent="-331152" lvl="0" marL="457200" rtl="0" algn="l">
              <a:lnSpc>
                <a:spcPct val="150000"/>
              </a:lnSpc>
              <a:spcBef>
                <a:spcPts val="1200"/>
              </a:spcBef>
              <a:spcAft>
                <a:spcPts val="0"/>
              </a:spcAft>
              <a:buSzPct val="100000"/>
              <a:buChar char="●"/>
            </a:pPr>
            <a:r>
              <a:rPr b="1" lang="en-GB" sz="1900"/>
              <a:t>Data Understanding</a:t>
            </a:r>
            <a:r>
              <a:rPr lang="en-GB" sz="1900"/>
              <a:t> :  A quick look at the data.</a:t>
            </a:r>
            <a:endParaRPr sz="1900"/>
          </a:p>
          <a:p>
            <a:pPr indent="-331152" lvl="0" marL="457200" rtl="0" algn="l">
              <a:lnSpc>
                <a:spcPct val="150000"/>
              </a:lnSpc>
              <a:spcBef>
                <a:spcPts val="0"/>
              </a:spcBef>
              <a:spcAft>
                <a:spcPts val="0"/>
              </a:spcAft>
              <a:buSzPct val="100000"/>
              <a:buChar char="●"/>
            </a:pPr>
            <a:r>
              <a:rPr b="1" lang="en-GB" sz="1900"/>
              <a:t>Data Preparation</a:t>
            </a:r>
            <a:r>
              <a:rPr lang="en-GB" sz="1900"/>
              <a:t> : How the data was cleaned and prepared.</a:t>
            </a:r>
            <a:endParaRPr sz="1900"/>
          </a:p>
          <a:p>
            <a:pPr indent="-331152" lvl="0" marL="457200" rtl="0" algn="l">
              <a:lnSpc>
                <a:spcPct val="150000"/>
              </a:lnSpc>
              <a:spcBef>
                <a:spcPts val="0"/>
              </a:spcBef>
              <a:spcAft>
                <a:spcPts val="0"/>
              </a:spcAft>
              <a:buSzPct val="100000"/>
              <a:buChar char="●"/>
            </a:pPr>
            <a:r>
              <a:rPr b="1" lang="en-GB" sz="1900"/>
              <a:t>Model Architecture </a:t>
            </a:r>
            <a:r>
              <a:rPr lang="en-GB" sz="1900"/>
              <a:t>: The design of our neural network.</a:t>
            </a:r>
            <a:endParaRPr sz="1900"/>
          </a:p>
          <a:p>
            <a:pPr indent="-331152" lvl="0" marL="457200" rtl="0" algn="l">
              <a:lnSpc>
                <a:spcPct val="150000"/>
              </a:lnSpc>
              <a:spcBef>
                <a:spcPts val="0"/>
              </a:spcBef>
              <a:spcAft>
                <a:spcPts val="0"/>
              </a:spcAft>
              <a:buSzPct val="100000"/>
              <a:buChar char="●"/>
            </a:pPr>
            <a:r>
              <a:rPr b="1" lang="en-GB" sz="1900"/>
              <a:t>Training &amp; Evaluation : </a:t>
            </a:r>
            <a:r>
              <a:rPr lang="en-GB" sz="1900"/>
              <a:t> How the model was trained and how it performed.</a:t>
            </a:r>
            <a:endParaRPr sz="1900"/>
          </a:p>
          <a:p>
            <a:pPr indent="-331152" lvl="0" marL="457200" rtl="0" algn="l">
              <a:lnSpc>
                <a:spcPct val="150000"/>
              </a:lnSpc>
              <a:spcBef>
                <a:spcPts val="0"/>
              </a:spcBef>
              <a:spcAft>
                <a:spcPts val="0"/>
              </a:spcAft>
              <a:buSzPct val="100000"/>
              <a:buChar char="●"/>
            </a:pPr>
            <a:r>
              <a:rPr b="1" lang="en-GB" sz="1900"/>
              <a:t>Conclusion </a:t>
            </a:r>
            <a:r>
              <a:rPr lang="en-GB" sz="1900"/>
              <a:t>:  Key takeaways and recommendations.</a:t>
            </a:r>
            <a:endParaRPr sz="1900"/>
          </a:p>
          <a:p>
            <a:pPr indent="0" lvl="0" marL="0" rtl="0" algn="l">
              <a:lnSpc>
                <a:spcPct val="150000"/>
              </a:lnSpc>
              <a:spcBef>
                <a:spcPts val="1200"/>
              </a:spcBef>
              <a:spcAft>
                <a:spcPts val="1200"/>
              </a:spcAft>
              <a:buNone/>
            </a:pPr>
            <a:r>
              <a:t/>
            </a:r>
            <a:endParaRPr sz="1900"/>
          </a:p>
        </p:txBody>
      </p:sp>
      <p:sp>
        <p:nvSpPr>
          <p:cNvPr id="142" name="Google Shape;14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4134600" cy="51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Data Understanding</a:t>
            </a:r>
            <a:r>
              <a:rPr lang="en-GB"/>
              <a:t> </a:t>
            </a:r>
            <a:endParaRPr/>
          </a:p>
        </p:txBody>
      </p:sp>
      <p:sp>
        <p:nvSpPr>
          <p:cNvPr id="148" name="Google Shape;148;p15"/>
          <p:cNvSpPr txBox="1"/>
          <p:nvPr>
            <p:ph idx="1" type="body"/>
          </p:nvPr>
        </p:nvSpPr>
        <p:spPr>
          <a:xfrm>
            <a:off x="559175" y="1010650"/>
            <a:ext cx="3211800" cy="291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GB" sz="1400"/>
              <a:t>Size </a:t>
            </a:r>
            <a:r>
              <a:rPr lang="en-GB" sz="1400"/>
              <a:t>:  60,004 rows, 54 columns</a:t>
            </a:r>
            <a:endParaRPr sz="1400"/>
          </a:p>
          <a:p>
            <a:pPr indent="-317500" lvl="0" marL="457200" rtl="0" algn="l">
              <a:spcBef>
                <a:spcPts val="0"/>
              </a:spcBef>
              <a:spcAft>
                <a:spcPts val="0"/>
              </a:spcAft>
              <a:buSzPts val="1400"/>
              <a:buChar char="➢"/>
            </a:pPr>
            <a:r>
              <a:rPr b="1" lang="en-GB" sz="1400"/>
              <a:t>Features </a:t>
            </a:r>
            <a:r>
              <a:rPr lang="en-GB" sz="1400"/>
              <a:t>:  22 Numeric, 31 Categorical</a:t>
            </a:r>
            <a:endParaRPr sz="1400"/>
          </a:p>
          <a:p>
            <a:pPr indent="-317500" lvl="0" marL="457200" rtl="0" algn="l">
              <a:spcBef>
                <a:spcPts val="0"/>
              </a:spcBef>
              <a:spcAft>
                <a:spcPts val="0"/>
              </a:spcAft>
              <a:buSzPts val="1400"/>
              <a:buChar char="➢"/>
            </a:pPr>
            <a:r>
              <a:rPr b="1" lang="en-GB" sz="1400"/>
              <a:t>Missing Values </a:t>
            </a:r>
            <a:r>
              <a:rPr lang="en-GB" sz="1400"/>
              <a:t>:  Significant number of missing values found. Columns with &gt;30% missing data were dropped.</a:t>
            </a:r>
            <a:endParaRPr sz="1400"/>
          </a:p>
          <a:p>
            <a:pPr indent="-317500" lvl="0" marL="457200" rtl="0" algn="l">
              <a:spcBef>
                <a:spcPts val="0"/>
              </a:spcBef>
              <a:spcAft>
                <a:spcPts val="0"/>
              </a:spcAft>
              <a:buSzPts val="1400"/>
              <a:buChar char="➢"/>
            </a:pPr>
            <a:r>
              <a:rPr b="1" lang="en-GB" sz="1400"/>
              <a:t>Duplicates </a:t>
            </a:r>
            <a:r>
              <a:rPr lang="en-GB" sz="1400"/>
              <a:t>:  No duplicate rows found.</a:t>
            </a:r>
            <a:endParaRPr sz="1400"/>
          </a:p>
          <a:p>
            <a:pPr indent="0" lvl="0" marL="457200" rtl="0" algn="l">
              <a:spcBef>
                <a:spcPts val="1200"/>
              </a:spcBef>
              <a:spcAft>
                <a:spcPts val="0"/>
              </a:spcAft>
              <a:buNone/>
            </a:pPr>
            <a:r>
              <a:t/>
            </a:r>
            <a:endParaRPr sz="1200"/>
          </a:p>
          <a:p>
            <a:pPr indent="0" lvl="0" marL="457200" rtl="0" algn="l">
              <a:spcBef>
                <a:spcPts val="1200"/>
              </a:spcBef>
              <a:spcAft>
                <a:spcPts val="1200"/>
              </a:spcAft>
              <a:buNone/>
            </a:pPr>
            <a:r>
              <a:t/>
            </a:r>
            <a:endParaRPr sz="1200"/>
          </a:p>
        </p:txBody>
      </p:sp>
      <p:sp>
        <p:nvSpPr>
          <p:cNvPr id="149" name="Google Shape;14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0" name="Google Shape;150;p15"/>
          <p:cNvSpPr txBox="1"/>
          <p:nvPr>
            <p:ph idx="2" type="body"/>
          </p:nvPr>
        </p:nvSpPr>
        <p:spPr>
          <a:xfrm>
            <a:off x="4384275" y="1529938"/>
            <a:ext cx="4519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1" name="Google Shape;151;p15"/>
          <p:cNvPicPr preferRelativeResize="0"/>
          <p:nvPr/>
        </p:nvPicPr>
        <p:blipFill>
          <a:blip r:embed="rId3">
            <a:alphaModFix/>
          </a:blip>
          <a:stretch>
            <a:fillRect/>
          </a:stretch>
        </p:blipFill>
        <p:spPr>
          <a:xfrm>
            <a:off x="4046900" y="1010644"/>
            <a:ext cx="4974250" cy="37674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1297500" y="393750"/>
            <a:ext cx="7038900" cy="512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Data Understanding - Feature Analysis</a:t>
            </a:r>
            <a:endParaRPr b="1"/>
          </a:p>
        </p:txBody>
      </p:sp>
      <p:sp>
        <p:nvSpPr>
          <p:cNvPr id="157" name="Google Shape;157;p16"/>
          <p:cNvSpPr txBox="1"/>
          <p:nvPr>
            <p:ph idx="1" type="body"/>
          </p:nvPr>
        </p:nvSpPr>
        <p:spPr>
          <a:xfrm>
            <a:off x="166250" y="3620125"/>
            <a:ext cx="8737800" cy="13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200"/>
              <a:t>Key Takeaways </a:t>
            </a:r>
            <a:endParaRPr sz="1200"/>
          </a:p>
          <a:p>
            <a:pPr indent="-304800" lvl="0" marL="457200" rtl="0" algn="l">
              <a:spcBef>
                <a:spcPts val="1200"/>
              </a:spcBef>
              <a:spcAft>
                <a:spcPts val="0"/>
              </a:spcAft>
              <a:buSzPts val="1200"/>
              <a:buChar char="➢"/>
            </a:pPr>
            <a:r>
              <a:rPr b="1" lang="en-GB" sz="1200"/>
              <a:t>Feature Distributions </a:t>
            </a:r>
            <a:r>
              <a:rPr lang="en-GB" sz="1200"/>
              <a:t>:  Revealed a wide range of values and distributions for various features.</a:t>
            </a:r>
            <a:endParaRPr sz="1200"/>
          </a:p>
          <a:p>
            <a:pPr indent="-304800" lvl="0" marL="457200" rtl="0" algn="l">
              <a:spcBef>
                <a:spcPts val="0"/>
              </a:spcBef>
              <a:spcAft>
                <a:spcPts val="0"/>
              </a:spcAft>
              <a:buSzPts val="1200"/>
              <a:buChar char="➢"/>
            </a:pPr>
            <a:r>
              <a:rPr b="1" lang="en-GB" sz="1200"/>
              <a:t>Correlations </a:t>
            </a:r>
            <a:r>
              <a:rPr lang="en-GB" sz="1200"/>
              <a:t>: The heatmap shows the relationships between numeric features. A strong positive correlation (0.63) was found between  “Driver age”  and “Driver </a:t>
            </a:r>
            <a:r>
              <a:rPr lang="en-GB" sz="1200"/>
              <a:t>experience</a:t>
            </a:r>
            <a:r>
              <a:rPr lang="en-GB" sz="1200"/>
              <a:t>(years)”.</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rPr lang="en-GB" sz="1200"/>
              <a:t>          </a:t>
            </a:r>
            <a:endParaRPr sz="1200"/>
          </a:p>
        </p:txBody>
      </p:sp>
      <p:sp>
        <p:nvSpPr>
          <p:cNvPr id="158" name="Google Shape;15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59" name="Google Shape;159;p16" title="Screenshot 2026-01-03 144622.png"/>
          <p:cNvPicPr preferRelativeResize="0"/>
          <p:nvPr/>
        </p:nvPicPr>
        <p:blipFill>
          <a:blip r:embed="rId3">
            <a:alphaModFix/>
          </a:blip>
          <a:stretch>
            <a:fillRect/>
          </a:stretch>
        </p:blipFill>
        <p:spPr>
          <a:xfrm>
            <a:off x="166250" y="1058550"/>
            <a:ext cx="4673350" cy="2467650"/>
          </a:xfrm>
          <a:prstGeom prst="rect">
            <a:avLst/>
          </a:prstGeom>
          <a:noFill/>
          <a:ln>
            <a:noFill/>
          </a:ln>
        </p:spPr>
      </p:pic>
      <p:pic>
        <p:nvPicPr>
          <p:cNvPr id="160" name="Google Shape;160;p16" title="Screenshot 2026-01-03 145011.png"/>
          <p:cNvPicPr preferRelativeResize="0"/>
          <p:nvPr/>
        </p:nvPicPr>
        <p:blipFill>
          <a:blip r:embed="rId4">
            <a:alphaModFix/>
          </a:blip>
          <a:stretch>
            <a:fillRect/>
          </a:stretch>
        </p:blipFill>
        <p:spPr>
          <a:xfrm>
            <a:off x="4951050" y="1031650"/>
            <a:ext cx="3821475" cy="2494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1052550" y="96750"/>
            <a:ext cx="7038900" cy="55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Data Preparation</a:t>
            </a:r>
            <a:endParaRPr b="1"/>
          </a:p>
        </p:txBody>
      </p:sp>
      <p:sp>
        <p:nvSpPr>
          <p:cNvPr id="166" name="Google Shape;166;p17"/>
          <p:cNvSpPr txBox="1"/>
          <p:nvPr>
            <p:ph idx="1" type="body"/>
          </p:nvPr>
        </p:nvSpPr>
        <p:spPr>
          <a:xfrm>
            <a:off x="1123375" y="574300"/>
            <a:ext cx="7038900" cy="4440300"/>
          </a:xfrm>
          <a:prstGeom prst="rect">
            <a:avLst/>
          </a:prstGeom>
        </p:spPr>
        <p:txBody>
          <a:bodyPr anchorCtr="0" anchor="t" bIns="91425" lIns="91425" spcFirstLastPara="1" rIns="91425" wrap="square" tIns="91425">
            <a:noAutofit/>
          </a:bodyPr>
          <a:lstStyle/>
          <a:p>
            <a:pPr indent="0" lvl="0" marL="0" rtl="0" algn="l">
              <a:lnSpc>
                <a:spcPct val="97000"/>
              </a:lnSpc>
              <a:spcBef>
                <a:spcPts val="0"/>
              </a:spcBef>
              <a:spcAft>
                <a:spcPts val="0"/>
              </a:spcAft>
              <a:buNone/>
            </a:pPr>
            <a:r>
              <a:rPr b="1" lang="en-GB" sz="1200"/>
              <a:t>1. </a:t>
            </a:r>
            <a:r>
              <a:rPr lang="en-GB" sz="1200"/>
              <a:t> </a:t>
            </a:r>
            <a:r>
              <a:rPr b="1" lang="en-GB" sz="1200"/>
              <a:t>Missing Value Handling</a:t>
            </a:r>
            <a:endParaRPr b="1" sz="1200"/>
          </a:p>
          <a:p>
            <a:pPr indent="-304800" lvl="0" marL="457200" rtl="0" algn="l">
              <a:lnSpc>
                <a:spcPct val="97000"/>
              </a:lnSpc>
              <a:spcBef>
                <a:spcPts val="1200"/>
              </a:spcBef>
              <a:spcAft>
                <a:spcPts val="0"/>
              </a:spcAft>
              <a:buSzPts val="1200"/>
              <a:buChar char="❏"/>
            </a:pPr>
            <a:r>
              <a:rPr lang="en-GB" sz="1200"/>
              <a:t> Dropped columns with &gt;30% missing values</a:t>
            </a:r>
            <a:endParaRPr sz="1200"/>
          </a:p>
          <a:p>
            <a:pPr indent="-304800" lvl="0" marL="457200" rtl="0" algn="l">
              <a:lnSpc>
                <a:spcPct val="97000"/>
              </a:lnSpc>
              <a:spcBef>
                <a:spcPts val="0"/>
              </a:spcBef>
              <a:spcAft>
                <a:spcPts val="0"/>
              </a:spcAft>
              <a:buSzPts val="1200"/>
              <a:buChar char="❏"/>
            </a:pPr>
            <a:r>
              <a:rPr lang="en-GB" sz="1200"/>
              <a:t>Imputed numeric features with the **median**.</a:t>
            </a:r>
            <a:endParaRPr sz="1200"/>
          </a:p>
          <a:p>
            <a:pPr indent="-304800" lvl="0" marL="457200" rtl="0" algn="l">
              <a:lnSpc>
                <a:spcPct val="97000"/>
              </a:lnSpc>
              <a:spcBef>
                <a:spcPts val="0"/>
              </a:spcBef>
              <a:spcAft>
                <a:spcPts val="0"/>
              </a:spcAft>
              <a:buSzPts val="1200"/>
              <a:buChar char="❏"/>
            </a:pPr>
            <a:r>
              <a:rPr lang="en-GB" sz="1200"/>
              <a:t> Imputed categorical features with the **mode**.</a:t>
            </a:r>
            <a:endParaRPr sz="1200"/>
          </a:p>
          <a:p>
            <a:pPr indent="0" lvl="0" marL="0" rtl="0" algn="l">
              <a:lnSpc>
                <a:spcPct val="97000"/>
              </a:lnSpc>
              <a:spcBef>
                <a:spcPts val="1200"/>
              </a:spcBef>
              <a:spcAft>
                <a:spcPts val="0"/>
              </a:spcAft>
              <a:buNone/>
            </a:pPr>
            <a:r>
              <a:rPr b="1" lang="en-GB" sz="1200"/>
              <a:t>2. </a:t>
            </a:r>
            <a:r>
              <a:rPr lang="en-GB" sz="1200"/>
              <a:t> </a:t>
            </a:r>
            <a:r>
              <a:rPr b="1" lang="en-GB" sz="1200"/>
              <a:t>Categorical Encoding</a:t>
            </a:r>
            <a:endParaRPr b="1" sz="1200"/>
          </a:p>
          <a:p>
            <a:pPr indent="-304800" lvl="0" marL="457200" rtl="0" algn="l">
              <a:lnSpc>
                <a:spcPct val="97000"/>
              </a:lnSpc>
              <a:spcBef>
                <a:spcPts val="1200"/>
              </a:spcBef>
              <a:spcAft>
                <a:spcPts val="0"/>
              </a:spcAft>
              <a:buSzPts val="1200"/>
              <a:buChar char="❏"/>
            </a:pPr>
            <a:r>
              <a:rPr lang="en-GB" sz="1200"/>
              <a:t>Label Encoding** for binary features.</a:t>
            </a:r>
            <a:endParaRPr sz="1200"/>
          </a:p>
          <a:p>
            <a:pPr indent="-304800" lvl="0" marL="457200" rtl="0" algn="l">
              <a:lnSpc>
                <a:spcPct val="97000"/>
              </a:lnSpc>
              <a:spcBef>
                <a:spcPts val="0"/>
              </a:spcBef>
              <a:spcAft>
                <a:spcPts val="0"/>
              </a:spcAft>
              <a:buSzPts val="1200"/>
              <a:buChar char="❏"/>
            </a:pPr>
            <a:r>
              <a:rPr lang="en-GB" sz="1200"/>
              <a:t>One-Hot Encoding** for low-cardinality features.</a:t>
            </a:r>
            <a:endParaRPr sz="1200"/>
          </a:p>
          <a:p>
            <a:pPr indent="-304800" lvl="0" marL="457200" rtl="0" algn="l">
              <a:lnSpc>
                <a:spcPct val="97000"/>
              </a:lnSpc>
              <a:spcBef>
                <a:spcPts val="0"/>
              </a:spcBef>
              <a:spcAft>
                <a:spcPts val="0"/>
              </a:spcAft>
              <a:buSzPts val="1200"/>
              <a:buChar char="❏"/>
            </a:pPr>
            <a:r>
              <a:rPr lang="en-GB" sz="1200"/>
              <a:t>Frequency Encoding** for high-cardinality features.</a:t>
            </a:r>
            <a:endParaRPr sz="1200"/>
          </a:p>
          <a:p>
            <a:pPr indent="0" lvl="0" marL="0" rtl="0" algn="l">
              <a:lnSpc>
                <a:spcPct val="97000"/>
              </a:lnSpc>
              <a:spcBef>
                <a:spcPts val="1200"/>
              </a:spcBef>
              <a:spcAft>
                <a:spcPts val="0"/>
              </a:spcAft>
              <a:buNone/>
            </a:pPr>
            <a:r>
              <a:rPr b="1" lang="en-GB" sz="1200"/>
              <a:t>3. Feature Scaling</a:t>
            </a:r>
            <a:endParaRPr b="1" sz="1200"/>
          </a:p>
          <a:p>
            <a:pPr indent="-304800" lvl="0" marL="457200" rtl="0" algn="l">
              <a:lnSpc>
                <a:spcPct val="97000"/>
              </a:lnSpc>
              <a:spcBef>
                <a:spcPts val="1200"/>
              </a:spcBef>
              <a:spcAft>
                <a:spcPts val="0"/>
              </a:spcAft>
              <a:buSzPts val="1200"/>
              <a:buChar char="❏"/>
            </a:pPr>
            <a:r>
              <a:rPr lang="en-GB" sz="1200"/>
              <a:t>StandardScaler  was used to normalize all numeric features</a:t>
            </a:r>
            <a:endParaRPr sz="1200"/>
          </a:p>
          <a:p>
            <a:pPr indent="0" lvl="0" marL="0" rtl="0" algn="l">
              <a:lnSpc>
                <a:spcPct val="97000"/>
              </a:lnSpc>
              <a:spcBef>
                <a:spcPts val="1200"/>
              </a:spcBef>
              <a:spcAft>
                <a:spcPts val="0"/>
              </a:spcAft>
              <a:buNone/>
            </a:pPr>
            <a:r>
              <a:rPr b="1" lang="en-GB" sz="1200"/>
              <a:t>4.  Data Split</a:t>
            </a:r>
            <a:endParaRPr b="1" sz="1200"/>
          </a:p>
          <a:p>
            <a:pPr indent="-304800" lvl="0" marL="457200" rtl="0" algn="l">
              <a:lnSpc>
                <a:spcPct val="97000"/>
              </a:lnSpc>
              <a:spcBef>
                <a:spcPts val="1200"/>
              </a:spcBef>
              <a:spcAft>
                <a:spcPts val="0"/>
              </a:spcAft>
              <a:buSzPts val="1200"/>
              <a:buChar char="❏"/>
            </a:pPr>
            <a:r>
              <a:rPr lang="en-GB" sz="1200"/>
              <a:t>70%  for Tr</a:t>
            </a:r>
            <a:r>
              <a:rPr lang="en-GB" sz="1200"/>
              <a:t>aining</a:t>
            </a:r>
            <a:endParaRPr sz="1200"/>
          </a:p>
          <a:p>
            <a:pPr indent="-304800" lvl="0" marL="457200" rtl="0" algn="l">
              <a:lnSpc>
                <a:spcPct val="97000"/>
              </a:lnSpc>
              <a:spcBef>
                <a:spcPts val="0"/>
              </a:spcBef>
              <a:spcAft>
                <a:spcPts val="0"/>
              </a:spcAft>
              <a:buSzPts val="1200"/>
              <a:buChar char="❏"/>
            </a:pPr>
            <a:r>
              <a:rPr lang="en-GB" sz="1200"/>
              <a:t>15%  for Validation</a:t>
            </a:r>
            <a:endParaRPr sz="1200"/>
          </a:p>
          <a:p>
            <a:pPr indent="-304800" lvl="0" marL="457200" rtl="0" algn="l">
              <a:lnSpc>
                <a:spcPct val="97000"/>
              </a:lnSpc>
              <a:spcBef>
                <a:spcPts val="0"/>
              </a:spcBef>
              <a:spcAft>
                <a:spcPts val="0"/>
              </a:spcAft>
              <a:buSzPts val="1200"/>
              <a:buChar char="❏"/>
            </a:pPr>
            <a:r>
              <a:rPr lang="en-GB" sz="1200"/>
              <a:t>15%  for Testing</a:t>
            </a:r>
            <a:endParaRPr sz="1200"/>
          </a:p>
          <a:p>
            <a:pPr indent="-304800" lvl="0" marL="457200" rtl="0" algn="l">
              <a:lnSpc>
                <a:spcPct val="97000"/>
              </a:lnSpc>
              <a:spcBef>
                <a:spcPts val="0"/>
              </a:spcBef>
              <a:spcAft>
                <a:spcPts val="0"/>
              </a:spcAft>
              <a:buSzPts val="1200"/>
              <a:buChar char="❏"/>
            </a:pPr>
            <a:r>
              <a:rPr lang="en-GB" sz="1200"/>
              <a:t> Stratified split to maintain class balance.</a:t>
            </a:r>
            <a:endParaRPr sz="1200"/>
          </a:p>
          <a:p>
            <a:pPr indent="0" lvl="0" marL="457200" rtl="0" algn="l">
              <a:lnSpc>
                <a:spcPct val="97000"/>
              </a:lnSpc>
              <a:spcBef>
                <a:spcPts val="1200"/>
              </a:spcBef>
              <a:spcAft>
                <a:spcPts val="0"/>
              </a:spcAft>
              <a:buNone/>
            </a:pPr>
            <a:r>
              <a:t/>
            </a:r>
            <a:endParaRPr sz="1200"/>
          </a:p>
          <a:p>
            <a:pPr indent="0" lvl="0" marL="0" rtl="0" algn="l">
              <a:lnSpc>
                <a:spcPct val="97000"/>
              </a:lnSpc>
              <a:spcBef>
                <a:spcPts val="1200"/>
              </a:spcBef>
              <a:spcAft>
                <a:spcPts val="1200"/>
              </a:spcAft>
              <a:buNone/>
            </a:pPr>
            <a:r>
              <a:t/>
            </a:r>
            <a:endParaRPr sz="1200"/>
          </a:p>
        </p:txBody>
      </p:sp>
      <p:sp>
        <p:nvSpPr>
          <p:cNvPr id="167" name="Google Shape;16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1143875" y="188900"/>
            <a:ext cx="7038900" cy="55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Model Architecture</a:t>
            </a:r>
            <a:endParaRPr/>
          </a:p>
        </p:txBody>
      </p:sp>
      <p:sp>
        <p:nvSpPr>
          <p:cNvPr id="173" name="Google Shape;173;p18"/>
          <p:cNvSpPr txBox="1"/>
          <p:nvPr>
            <p:ph idx="1" type="body"/>
          </p:nvPr>
        </p:nvSpPr>
        <p:spPr>
          <a:xfrm>
            <a:off x="1052550" y="884425"/>
            <a:ext cx="7038900" cy="37788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GB" sz="1900"/>
              <a:t>Network Design</a:t>
            </a:r>
            <a:endParaRPr b="1" sz="1900"/>
          </a:p>
          <a:p>
            <a:pPr indent="-313055" lvl="0" marL="457200" rtl="0" algn="l">
              <a:spcBef>
                <a:spcPts val="1200"/>
              </a:spcBef>
              <a:spcAft>
                <a:spcPts val="0"/>
              </a:spcAft>
              <a:buSzPct val="100000"/>
              <a:buChar char="➢"/>
            </a:pPr>
            <a:r>
              <a:rPr b="1" lang="en-GB" sz="1900"/>
              <a:t>Input Layer :  </a:t>
            </a:r>
            <a:r>
              <a:rPr lang="en-GB" sz="1900"/>
              <a:t>Takes the preprocessed feature vector.</a:t>
            </a:r>
            <a:endParaRPr sz="1900"/>
          </a:p>
          <a:p>
            <a:pPr indent="-313055" lvl="0" marL="457200" rtl="0" algn="l">
              <a:spcBef>
                <a:spcPts val="0"/>
              </a:spcBef>
              <a:spcAft>
                <a:spcPts val="0"/>
              </a:spcAft>
              <a:buSzPct val="100000"/>
              <a:buChar char="➢"/>
            </a:pPr>
            <a:r>
              <a:rPr b="1" lang="en-GB" sz="1900"/>
              <a:t>Hidden Layers</a:t>
            </a:r>
            <a:r>
              <a:rPr lang="en-GB" sz="1900"/>
              <a:t>: 3 Dense layers with 64, 32, and 16 neurons.</a:t>
            </a:r>
            <a:endParaRPr sz="1900"/>
          </a:p>
          <a:p>
            <a:pPr indent="0" lvl="0" marL="457200" rtl="0" algn="l">
              <a:spcBef>
                <a:spcPts val="1200"/>
              </a:spcBef>
              <a:spcAft>
                <a:spcPts val="0"/>
              </a:spcAft>
              <a:buNone/>
            </a:pPr>
            <a:r>
              <a:rPr lang="en-GB" sz="1900"/>
              <a:t>       Activation : ReLU</a:t>
            </a:r>
            <a:endParaRPr sz="1900"/>
          </a:p>
          <a:p>
            <a:pPr indent="-313055" lvl="0" marL="457200" rtl="0" algn="l">
              <a:spcBef>
                <a:spcPts val="1200"/>
              </a:spcBef>
              <a:spcAft>
                <a:spcPts val="0"/>
              </a:spcAft>
              <a:buSzPct val="100000"/>
              <a:buChar char="➢"/>
            </a:pPr>
            <a:r>
              <a:rPr b="1" lang="en-GB" sz="1900"/>
              <a:t>Output Layer</a:t>
            </a:r>
            <a:r>
              <a:rPr lang="en-GB" sz="1900"/>
              <a:t> :</a:t>
            </a:r>
            <a:endParaRPr sz="1900"/>
          </a:p>
          <a:p>
            <a:pPr indent="0" lvl="0" marL="457200" rtl="0" algn="l">
              <a:spcBef>
                <a:spcPts val="1200"/>
              </a:spcBef>
              <a:spcAft>
                <a:spcPts val="0"/>
              </a:spcAft>
              <a:buNone/>
            </a:pPr>
            <a:r>
              <a:rPr lang="en-GB" sz="1900"/>
              <a:t>       Activation :  Softmax (for multi-class classification)</a:t>
            </a:r>
            <a:endParaRPr sz="1900"/>
          </a:p>
          <a:p>
            <a:pPr indent="0" lvl="0" marL="0" rtl="0" algn="l">
              <a:spcBef>
                <a:spcPts val="1200"/>
              </a:spcBef>
              <a:spcAft>
                <a:spcPts val="0"/>
              </a:spcAft>
              <a:buNone/>
            </a:pPr>
            <a:r>
              <a:rPr b="1" lang="en-GB" sz="1900"/>
              <a:t>Regularizations</a:t>
            </a:r>
            <a:endParaRPr b="1" sz="1900"/>
          </a:p>
          <a:p>
            <a:pPr indent="-313055" lvl="0" marL="457200" rtl="0" algn="l">
              <a:spcBef>
                <a:spcPts val="1200"/>
              </a:spcBef>
              <a:spcAft>
                <a:spcPts val="0"/>
              </a:spcAft>
              <a:buSzPct val="100000"/>
              <a:buChar char="➢"/>
            </a:pPr>
            <a:r>
              <a:rPr lang="en-GB" sz="1900"/>
              <a:t>L2 Regularization (λ=0.001)</a:t>
            </a:r>
            <a:endParaRPr sz="1900"/>
          </a:p>
          <a:p>
            <a:pPr indent="-313055" lvl="0" marL="457200" rtl="0" algn="l">
              <a:spcBef>
                <a:spcPts val="0"/>
              </a:spcBef>
              <a:spcAft>
                <a:spcPts val="0"/>
              </a:spcAft>
              <a:buSzPct val="100000"/>
              <a:buChar char="➢"/>
            </a:pPr>
            <a:r>
              <a:rPr lang="en-GB" sz="1900"/>
              <a:t>Dropout (Rate=0.3)</a:t>
            </a:r>
            <a:endParaRPr sz="1900"/>
          </a:p>
          <a:p>
            <a:pPr indent="-313055" lvl="0" marL="457200" rtl="0" algn="l">
              <a:spcBef>
                <a:spcPts val="0"/>
              </a:spcBef>
              <a:spcAft>
                <a:spcPts val="0"/>
              </a:spcAft>
              <a:buSzPct val="100000"/>
              <a:buChar char="➢"/>
            </a:pPr>
            <a:r>
              <a:rPr lang="en-GB" sz="1900"/>
              <a:t>Batch Normalization</a:t>
            </a:r>
            <a:endParaRPr sz="1900"/>
          </a:p>
          <a:p>
            <a:pPr indent="0" lvl="0" marL="457200" rtl="0" algn="l">
              <a:spcBef>
                <a:spcPts val="1200"/>
              </a:spcBef>
              <a:spcAft>
                <a:spcPts val="0"/>
              </a:spcAft>
              <a:buNone/>
            </a:pPr>
            <a:r>
              <a:t/>
            </a:r>
            <a:endParaRPr sz="1900"/>
          </a:p>
          <a:p>
            <a:pPr indent="0" lvl="0" marL="457200" rtl="0" algn="l">
              <a:spcBef>
                <a:spcPts val="1200"/>
              </a:spcBef>
              <a:spcAft>
                <a:spcPts val="1200"/>
              </a:spcAft>
              <a:buNone/>
            </a:pPr>
            <a:r>
              <a:t/>
            </a:r>
            <a:endParaRPr sz="1900"/>
          </a:p>
        </p:txBody>
      </p:sp>
      <p:sp>
        <p:nvSpPr>
          <p:cNvPr id="174" name="Google Shape;17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908300" y="291325"/>
            <a:ext cx="7038900" cy="564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2844"/>
              <a:t>Training Process</a:t>
            </a:r>
            <a:endParaRPr b="1" sz="2844"/>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sp>
        <p:nvSpPr>
          <p:cNvPr id="180" name="Google Shape;180;p19"/>
          <p:cNvSpPr txBox="1"/>
          <p:nvPr>
            <p:ph idx="1" type="body"/>
          </p:nvPr>
        </p:nvSpPr>
        <p:spPr>
          <a:xfrm>
            <a:off x="5244650" y="1110450"/>
            <a:ext cx="3994500" cy="3615300"/>
          </a:xfrm>
          <a:prstGeom prst="rect">
            <a:avLst/>
          </a:prstGeom>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None/>
            </a:pPr>
            <a:r>
              <a:rPr b="1" lang="en-GB" sz="1900"/>
              <a:t>  Hyperparameters</a:t>
            </a:r>
            <a:endParaRPr b="1" sz="1900"/>
          </a:p>
          <a:p>
            <a:pPr indent="-322103" lvl="0" marL="457200" rtl="0" algn="l">
              <a:lnSpc>
                <a:spcPct val="115000"/>
              </a:lnSpc>
              <a:spcBef>
                <a:spcPts val="1200"/>
              </a:spcBef>
              <a:spcAft>
                <a:spcPts val="0"/>
              </a:spcAft>
              <a:buSzPct val="100000"/>
              <a:buChar char="❏"/>
            </a:pPr>
            <a:r>
              <a:rPr lang="en-GB" sz="1900"/>
              <a:t> </a:t>
            </a:r>
            <a:r>
              <a:rPr b="1" lang="en-GB" sz="1900"/>
              <a:t>Optimizer </a:t>
            </a:r>
            <a:r>
              <a:rPr lang="en-GB" sz="1900"/>
              <a:t>:  Adam</a:t>
            </a:r>
            <a:endParaRPr sz="1900"/>
          </a:p>
          <a:p>
            <a:pPr indent="-322103" lvl="0" marL="457200" rtl="0" algn="l">
              <a:lnSpc>
                <a:spcPct val="115000"/>
              </a:lnSpc>
              <a:spcBef>
                <a:spcPts val="0"/>
              </a:spcBef>
              <a:spcAft>
                <a:spcPts val="0"/>
              </a:spcAft>
              <a:buSzPct val="100000"/>
              <a:buChar char="❏"/>
            </a:pPr>
            <a:r>
              <a:rPr lang="en-GB" sz="1900"/>
              <a:t>  </a:t>
            </a:r>
            <a:r>
              <a:rPr b="1" lang="en-GB" sz="1900"/>
              <a:t>Learning Rate</a:t>
            </a:r>
            <a:r>
              <a:rPr lang="en-GB" sz="1900"/>
              <a:t> :  0.001 (with `ReduceLROnPlateau`)</a:t>
            </a:r>
            <a:endParaRPr sz="1900"/>
          </a:p>
          <a:p>
            <a:pPr indent="-322103" lvl="0" marL="457200" rtl="0" algn="l">
              <a:lnSpc>
                <a:spcPct val="115000"/>
              </a:lnSpc>
              <a:spcBef>
                <a:spcPts val="0"/>
              </a:spcBef>
              <a:spcAft>
                <a:spcPts val="0"/>
              </a:spcAft>
              <a:buSzPct val="100000"/>
              <a:buChar char="❏"/>
            </a:pPr>
            <a:r>
              <a:rPr lang="en-GB" sz="1900"/>
              <a:t> </a:t>
            </a:r>
            <a:r>
              <a:rPr b="1" lang="en-GB" sz="1900"/>
              <a:t> Batch Size</a:t>
            </a:r>
            <a:r>
              <a:rPr lang="en-GB" sz="1900"/>
              <a:t> : 32</a:t>
            </a:r>
            <a:endParaRPr sz="1900"/>
          </a:p>
          <a:p>
            <a:pPr indent="-322103" lvl="0" marL="457200" rtl="0" algn="l">
              <a:lnSpc>
                <a:spcPct val="115000"/>
              </a:lnSpc>
              <a:spcBef>
                <a:spcPts val="0"/>
              </a:spcBef>
              <a:spcAft>
                <a:spcPts val="0"/>
              </a:spcAft>
              <a:buSzPct val="100000"/>
              <a:buChar char="❏"/>
            </a:pPr>
            <a:r>
              <a:rPr lang="en-GB" sz="1900"/>
              <a:t>   </a:t>
            </a:r>
            <a:r>
              <a:rPr b="1" lang="en-GB" sz="1900"/>
              <a:t>Epochs</a:t>
            </a:r>
            <a:r>
              <a:rPr lang="en-GB" sz="1900"/>
              <a:t> :  Max 100 </a:t>
            </a:r>
            <a:endParaRPr sz="1900"/>
          </a:p>
          <a:p>
            <a:pPr indent="0" lvl="0" marL="0" rtl="0" algn="l">
              <a:lnSpc>
                <a:spcPct val="115000"/>
              </a:lnSpc>
              <a:spcBef>
                <a:spcPts val="1200"/>
              </a:spcBef>
              <a:spcAft>
                <a:spcPts val="0"/>
              </a:spcAft>
              <a:buNone/>
            </a:pPr>
            <a:r>
              <a:rPr b="1" lang="en-GB" sz="1900"/>
              <a:t>    Overfitting Prevention</a:t>
            </a:r>
            <a:endParaRPr b="1" sz="1900"/>
          </a:p>
          <a:p>
            <a:pPr indent="-322103" lvl="0" marL="457200" rtl="0" algn="l">
              <a:lnSpc>
                <a:spcPct val="115000"/>
              </a:lnSpc>
              <a:spcBef>
                <a:spcPts val="1200"/>
              </a:spcBef>
              <a:spcAft>
                <a:spcPts val="0"/>
              </a:spcAft>
              <a:buSzPct val="100000"/>
              <a:buChar char="❏"/>
            </a:pPr>
            <a:r>
              <a:rPr lang="en-GB" sz="1900"/>
              <a:t>  </a:t>
            </a:r>
            <a:r>
              <a:rPr b="1" lang="en-GB" sz="1900"/>
              <a:t>Early Stopping</a:t>
            </a:r>
            <a:r>
              <a:rPr lang="en-GB" sz="1900"/>
              <a:t> :  Patience of 15 epochs.</a:t>
            </a:r>
            <a:endParaRPr sz="1900"/>
          </a:p>
          <a:p>
            <a:pPr indent="-322103" lvl="0" marL="457200" rtl="0" algn="l">
              <a:lnSpc>
                <a:spcPct val="115000"/>
              </a:lnSpc>
              <a:spcBef>
                <a:spcPts val="0"/>
              </a:spcBef>
              <a:spcAft>
                <a:spcPts val="0"/>
              </a:spcAft>
              <a:buSzPct val="100000"/>
              <a:buChar char="❏"/>
            </a:pPr>
            <a:r>
              <a:rPr lang="en-GB" sz="1900"/>
              <a:t> </a:t>
            </a:r>
            <a:r>
              <a:rPr b="1" lang="en-GB" sz="1900"/>
              <a:t> ReduceLROnPlateau </a:t>
            </a:r>
            <a:r>
              <a:rPr lang="en-GB" sz="1900"/>
              <a:t>:  Reduces learning rate if validation loss plateaus.</a:t>
            </a:r>
            <a:endParaRPr sz="1900"/>
          </a:p>
          <a:p>
            <a:pPr indent="-322103" lvl="0" marL="457200" rtl="0" algn="l">
              <a:lnSpc>
                <a:spcPct val="115000"/>
              </a:lnSpc>
              <a:spcBef>
                <a:spcPts val="0"/>
              </a:spcBef>
              <a:spcAft>
                <a:spcPts val="0"/>
              </a:spcAft>
              <a:buSzPct val="100000"/>
              <a:buChar char="❏"/>
            </a:pPr>
            <a:r>
              <a:rPr lang="en-GB" sz="1900"/>
              <a:t> </a:t>
            </a:r>
            <a:r>
              <a:rPr b="1" lang="en-GB" sz="1900"/>
              <a:t>Model Checkpointing</a:t>
            </a:r>
            <a:r>
              <a:rPr lang="en-GB" sz="1900"/>
              <a:t> :  Saves the best model based on validation accuracy.</a:t>
            </a:r>
            <a:endParaRPr sz="1900"/>
          </a:p>
          <a:p>
            <a:pPr indent="0" lvl="0" marL="457200" rtl="0" algn="l">
              <a:lnSpc>
                <a:spcPct val="115000"/>
              </a:lnSpc>
              <a:spcBef>
                <a:spcPts val="1200"/>
              </a:spcBef>
              <a:spcAft>
                <a:spcPts val="1200"/>
              </a:spcAft>
              <a:buNone/>
            </a:pPr>
            <a:r>
              <a:t/>
            </a:r>
            <a:endParaRPr sz="1900"/>
          </a:p>
        </p:txBody>
      </p:sp>
      <p:sp>
        <p:nvSpPr>
          <p:cNvPr id="181" name="Google Shape;1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82" name="Google Shape;182;p19"/>
          <p:cNvPicPr preferRelativeResize="0"/>
          <p:nvPr/>
        </p:nvPicPr>
        <p:blipFill>
          <a:blip r:embed="rId3">
            <a:alphaModFix/>
          </a:blip>
          <a:stretch>
            <a:fillRect/>
          </a:stretch>
        </p:blipFill>
        <p:spPr>
          <a:xfrm>
            <a:off x="152400" y="1110450"/>
            <a:ext cx="4989826" cy="36780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ph type="title"/>
          </p:nvPr>
        </p:nvSpPr>
        <p:spPr>
          <a:xfrm>
            <a:off x="1297500" y="393750"/>
            <a:ext cx="7038900" cy="60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800">
                <a:solidFill>
                  <a:srgbClr val="9FC5E8"/>
                </a:solidFill>
              </a:rPr>
              <a:t>Evaluation - Overall Performance</a:t>
            </a:r>
            <a:endParaRPr b="1" sz="2800">
              <a:solidFill>
                <a:srgbClr val="9FC5E8"/>
              </a:solidFill>
            </a:endParaRPr>
          </a:p>
        </p:txBody>
      </p:sp>
      <p:sp>
        <p:nvSpPr>
          <p:cNvPr id="188" name="Google Shape;188;p20"/>
          <p:cNvSpPr txBox="1"/>
          <p:nvPr>
            <p:ph idx="1" type="body"/>
          </p:nvPr>
        </p:nvSpPr>
        <p:spPr>
          <a:xfrm>
            <a:off x="985375" y="1278525"/>
            <a:ext cx="7350900" cy="2894400"/>
          </a:xfrm>
          <a:prstGeom prst="rect">
            <a:avLst/>
          </a:prstGeom>
        </p:spPr>
        <p:txBody>
          <a:bodyPr anchorCtr="0" anchor="t" bIns="91425" lIns="91425" spcFirstLastPara="1" rIns="91425" wrap="square" tIns="91425">
            <a:normAutofit/>
          </a:bodyPr>
          <a:lstStyle/>
          <a:p>
            <a:pPr indent="-368300" lvl="0" marL="457200" rtl="0" algn="l">
              <a:lnSpc>
                <a:spcPct val="150000"/>
              </a:lnSpc>
              <a:spcBef>
                <a:spcPts val="0"/>
              </a:spcBef>
              <a:spcAft>
                <a:spcPts val="0"/>
              </a:spcAft>
              <a:buClr>
                <a:srgbClr val="FFFFFF"/>
              </a:buClr>
              <a:buSzPts val="2200"/>
              <a:buChar char="➢"/>
            </a:pPr>
            <a:r>
              <a:rPr b="1" lang="en-GB" sz="2200">
                <a:solidFill>
                  <a:srgbClr val="FFFFFF"/>
                </a:solidFill>
              </a:rPr>
              <a:t>Accuracy </a:t>
            </a:r>
            <a:r>
              <a:rPr lang="en-GB" sz="2200">
                <a:solidFill>
                  <a:srgbClr val="FFFFFF"/>
                </a:solidFill>
              </a:rPr>
              <a:t>: 96.7%</a:t>
            </a:r>
            <a:endParaRPr sz="2200">
              <a:solidFill>
                <a:srgbClr val="FFFFFF"/>
              </a:solidFill>
            </a:endParaRPr>
          </a:p>
          <a:p>
            <a:pPr indent="-368300" lvl="0" marL="457200" rtl="0" algn="l">
              <a:lnSpc>
                <a:spcPct val="150000"/>
              </a:lnSpc>
              <a:spcBef>
                <a:spcPts val="0"/>
              </a:spcBef>
              <a:spcAft>
                <a:spcPts val="0"/>
              </a:spcAft>
              <a:buClr>
                <a:srgbClr val="FFFFFF"/>
              </a:buClr>
              <a:buSzPts val="2200"/>
              <a:buChar char="➢"/>
            </a:pPr>
            <a:r>
              <a:rPr lang="en-GB" sz="2200">
                <a:solidFill>
                  <a:srgbClr val="FFFFFF"/>
                </a:solidFill>
              </a:rPr>
              <a:t> </a:t>
            </a:r>
            <a:r>
              <a:rPr b="1" lang="en-GB" sz="2200">
                <a:solidFill>
                  <a:srgbClr val="FFFFFF"/>
                </a:solidFill>
              </a:rPr>
              <a:t>Weighted F1-Score :</a:t>
            </a:r>
            <a:r>
              <a:rPr lang="en-GB" sz="2200">
                <a:solidFill>
                  <a:srgbClr val="FFFFFF"/>
                </a:solidFill>
              </a:rPr>
              <a:t>  96.6%</a:t>
            </a:r>
            <a:endParaRPr sz="2200">
              <a:solidFill>
                <a:srgbClr val="FFFFFF"/>
              </a:solidFill>
            </a:endParaRPr>
          </a:p>
          <a:p>
            <a:pPr indent="-368300" lvl="0" marL="457200" rtl="0" algn="l">
              <a:lnSpc>
                <a:spcPct val="150000"/>
              </a:lnSpc>
              <a:spcBef>
                <a:spcPts val="0"/>
              </a:spcBef>
              <a:spcAft>
                <a:spcPts val="0"/>
              </a:spcAft>
              <a:buClr>
                <a:srgbClr val="FFFFFF"/>
              </a:buClr>
              <a:buSzPts val="2200"/>
              <a:buChar char="➢"/>
            </a:pPr>
            <a:r>
              <a:rPr lang="en-GB" sz="2200">
                <a:solidFill>
                  <a:srgbClr val="FFFFFF"/>
                </a:solidFill>
              </a:rPr>
              <a:t> </a:t>
            </a:r>
            <a:r>
              <a:rPr b="1" lang="en-GB" sz="2200">
                <a:solidFill>
                  <a:srgbClr val="FFFFFF"/>
                </a:solidFill>
              </a:rPr>
              <a:t>Weighted Precision</a:t>
            </a:r>
            <a:r>
              <a:rPr lang="en-GB" sz="2200">
                <a:solidFill>
                  <a:srgbClr val="FFFFFF"/>
                </a:solidFill>
              </a:rPr>
              <a:t> : </a:t>
            </a:r>
            <a:r>
              <a:rPr lang="en-GB" sz="2200">
                <a:solidFill>
                  <a:srgbClr val="FFFFFF"/>
                </a:solidFill>
              </a:rPr>
              <a:t>9</a:t>
            </a:r>
            <a:r>
              <a:rPr lang="en-GB" sz="2200">
                <a:solidFill>
                  <a:srgbClr val="FFFFFF"/>
                </a:solidFill>
              </a:rPr>
              <a:t>6.6%</a:t>
            </a:r>
            <a:endParaRPr sz="2200">
              <a:solidFill>
                <a:srgbClr val="FFFFFF"/>
              </a:solidFill>
            </a:endParaRPr>
          </a:p>
          <a:p>
            <a:pPr indent="-368300" lvl="0" marL="457200" rtl="0" algn="l">
              <a:lnSpc>
                <a:spcPct val="150000"/>
              </a:lnSpc>
              <a:spcBef>
                <a:spcPts val="0"/>
              </a:spcBef>
              <a:spcAft>
                <a:spcPts val="0"/>
              </a:spcAft>
              <a:buClr>
                <a:srgbClr val="FFFFFF"/>
              </a:buClr>
              <a:buSzPts val="2200"/>
              <a:buChar char="➢"/>
            </a:pPr>
            <a:r>
              <a:rPr lang="en-GB" sz="2200">
                <a:solidFill>
                  <a:srgbClr val="FFFFFF"/>
                </a:solidFill>
              </a:rPr>
              <a:t> </a:t>
            </a:r>
            <a:r>
              <a:rPr b="1" lang="en-GB" sz="2200">
                <a:solidFill>
                  <a:srgbClr val="FFFFFF"/>
                </a:solidFill>
              </a:rPr>
              <a:t>Weighted Recall</a:t>
            </a:r>
            <a:r>
              <a:rPr lang="en-GB" sz="2200">
                <a:solidFill>
                  <a:srgbClr val="FFFFFF"/>
                </a:solidFill>
              </a:rPr>
              <a:t> : 96.7%</a:t>
            </a:r>
            <a:endParaRPr sz="2200">
              <a:solidFill>
                <a:srgbClr val="FFFFFF"/>
              </a:solidFill>
            </a:endParaRPr>
          </a:p>
          <a:p>
            <a:pPr indent="0" lvl="0" marL="457200" rtl="0" algn="l">
              <a:spcBef>
                <a:spcPts val="1200"/>
              </a:spcBef>
              <a:spcAft>
                <a:spcPts val="1200"/>
              </a:spcAft>
              <a:buNone/>
            </a:pPr>
            <a:r>
              <a:t/>
            </a:r>
            <a:endParaRPr sz="2200">
              <a:solidFill>
                <a:srgbClr val="FFFFFF"/>
              </a:solidFill>
            </a:endParaRPr>
          </a:p>
        </p:txBody>
      </p:sp>
      <p:sp>
        <p:nvSpPr>
          <p:cNvPr id="189" name="Google Shape;1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1"/>
          <p:cNvSpPr txBox="1"/>
          <p:nvPr>
            <p:ph type="title"/>
          </p:nvPr>
        </p:nvSpPr>
        <p:spPr>
          <a:xfrm>
            <a:off x="1621025" y="96075"/>
            <a:ext cx="6362400" cy="574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2700">
                <a:solidFill>
                  <a:srgbClr val="3C78D8"/>
                </a:solidFill>
              </a:rPr>
              <a:t>Evaluation - Confusion Matrix</a:t>
            </a:r>
            <a:endParaRPr b="1" sz="2700">
              <a:solidFill>
                <a:srgbClr val="3C78D8"/>
              </a:solidFill>
            </a:endParaRPr>
          </a:p>
        </p:txBody>
      </p:sp>
      <p:sp>
        <p:nvSpPr>
          <p:cNvPr id="195" name="Google Shape;195;p21"/>
          <p:cNvSpPr txBox="1"/>
          <p:nvPr>
            <p:ph idx="1" type="body"/>
          </p:nvPr>
        </p:nvSpPr>
        <p:spPr>
          <a:xfrm>
            <a:off x="1297500" y="3690250"/>
            <a:ext cx="7038900" cy="1290300"/>
          </a:xfrm>
          <a:prstGeom prst="rect">
            <a:avLst/>
          </a:prstGeom>
        </p:spPr>
        <p:txBody>
          <a:bodyPr anchorCtr="0" anchor="t" bIns="91425" lIns="91425" spcFirstLastPara="1" rIns="91425" wrap="square" tIns="91425">
            <a:normAutofit fontScale="55000" lnSpcReduction="20000"/>
          </a:bodyPr>
          <a:lstStyle/>
          <a:p>
            <a:pPr indent="0" lvl="0" marL="0" rtl="0" algn="l">
              <a:lnSpc>
                <a:spcPct val="115000"/>
              </a:lnSpc>
              <a:spcBef>
                <a:spcPts val="0"/>
              </a:spcBef>
              <a:spcAft>
                <a:spcPts val="0"/>
              </a:spcAft>
              <a:buNone/>
            </a:pPr>
            <a:r>
              <a:rPr b="1" lang="en-GB" sz="2000"/>
              <a:t>Interpretation</a:t>
            </a:r>
            <a:endParaRPr b="1" sz="2000"/>
          </a:p>
          <a:p>
            <a:pPr indent="-298450" lvl="0" marL="457200" rtl="0" algn="l">
              <a:lnSpc>
                <a:spcPct val="115000"/>
              </a:lnSpc>
              <a:spcBef>
                <a:spcPts val="1200"/>
              </a:spcBef>
              <a:spcAft>
                <a:spcPts val="0"/>
              </a:spcAft>
              <a:buSzPct val="100000"/>
              <a:buChar char="❏"/>
            </a:pPr>
            <a:r>
              <a:rPr b="1" lang="en-GB" sz="2000"/>
              <a:t> </a:t>
            </a:r>
            <a:r>
              <a:rPr lang="en-GB" sz="2000"/>
              <a:t>The strong diagonal shows that the model is correctly classifying most instances for all classes.</a:t>
            </a:r>
            <a:endParaRPr sz="2000"/>
          </a:p>
          <a:p>
            <a:pPr indent="-298450" lvl="0" marL="457200" rtl="0" algn="l">
              <a:lnSpc>
                <a:spcPct val="115000"/>
              </a:lnSpc>
              <a:spcBef>
                <a:spcPts val="0"/>
              </a:spcBef>
              <a:spcAft>
                <a:spcPts val="0"/>
              </a:spcAft>
              <a:buSzPct val="100000"/>
              <a:buChar char="❏"/>
            </a:pPr>
            <a:r>
              <a:rPr lang="en-GB" sz="2000"/>
              <a:t>Most of the confusion is between the 'Fatal' and 'Serious' classes, which is an area for improvement.</a:t>
            </a:r>
            <a:endParaRPr sz="2000"/>
          </a:p>
          <a:p>
            <a:pPr indent="-298450" lvl="0" marL="457200" rtl="0" algn="l">
              <a:lnSpc>
                <a:spcPct val="115000"/>
              </a:lnSpc>
              <a:spcBef>
                <a:spcPts val="0"/>
              </a:spcBef>
              <a:spcAft>
                <a:spcPts val="0"/>
              </a:spcAft>
              <a:buSzPct val="100000"/>
              <a:buChar char="❏"/>
            </a:pPr>
            <a:r>
              <a:rPr lang="en-GB" sz="2000"/>
              <a:t>The majority classes ('Minor' and 'PDO') have very high prediction accuracy.</a:t>
            </a:r>
            <a:endParaRPr sz="2000"/>
          </a:p>
          <a:p>
            <a:pPr indent="0" lvl="0" marL="457200" rtl="0" algn="l">
              <a:lnSpc>
                <a:spcPct val="115000"/>
              </a:lnSpc>
              <a:spcBef>
                <a:spcPts val="1200"/>
              </a:spcBef>
              <a:spcAft>
                <a:spcPts val="1200"/>
              </a:spcAft>
              <a:buNone/>
            </a:pPr>
            <a:r>
              <a:t/>
            </a:r>
            <a:endParaRPr b="1" sz="2000"/>
          </a:p>
        </p:txBody>
      </p:sp>
      <p:sp>
        <p:nvSpPr>
          <p:cNvPr id="196" name="Google Shape;1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97" name="Google Shape;197;p21"/>
          <p:cNvPicPr preferRelativeResize="0"/>
          <p:nvPr/>
        </p:nvPicPr>
        <p:blipFill>
          <a:blip r:embed="rId3">
            <a:alphaModFix/>
          </a:blip>
          <a:stretch>
            <a:fillRect/>
          </a:stretch>
        </p:blipFill>
        <p:spPr>
          <a:xfrm>
            <a:off x="1297500" y="600431"/>
            <a:ext cx="6518550" cy="30898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ph type="title"/>
          </p:nvPr>
        </p:nvSpPr>
        <p:spPr>
          <a:xfrm>
            <a:off x="1384125" y="58075"/>
            <a:ext cx="6890100" cy="49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100">
                <a:solidFill>
                  <a:srgbClr val="6FA8DC"/>
                </a:solidFill>
              </a:rPr>
              <a:t>Evaluation - Per-Class Performance</a:t>
            </a:r>
            <a:endParaRPr b="1" sz="2100">
              <a:solidFill>
                <a:srgbClr val="6FA8DC"/>
              </a:solidFill>
            </a:endParaRPr>
          </a:p>
        </p:txBody>
      </p:sp>
      <p:sp>
        <p:nvSpPr>
          <p:cNvPr id="203" name="Google Shape;203;p22"/>
          <p:cNvSpPr txBox="1"/>
          <p:nvPr>
            <p:ph idx="1" type="body"/>
          </p:nvPr>
        </p:nvSpPr>
        <p:spPr>
          <a:xfrm>
            <a:off x="368700" y="3976525"/>
            <a:ext cx="8406600" cy="1020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sz="1600">
                <a:latin typeface="Arial"/>
                <a:ea typeface="Arial"/>
                <a:cs typeface="Arial"/>
                <a:sym typeface="Arial"/>
              </a:rPr>
              <a:t>Key Observations</a:t>
            </a:r>
            <a:endParaRPr b="1" sz="1600">
              <a:latin typeface="Arial"/>
              <a:ea typeface="Arial"/>
              <a:cs typeface="Arial"/>
              <a:sym typeface="Arial"/>
            </a:endParaRPr>
          </a:p>
          <a:p>
            <a:pPr indent="-330200" lvl="0" marL="457200" rtl="0" algn="l">
              <a:lnSpc>
                <a:spcPct val="100000"/>
              </a:lnSpc>
              <a:spcBef>
                <a:spcPts val="0"/>
              </a:spcBef>
              <a:spcAft>
                <a:spcPts val="0"/>
              </a:spcAft>
              <a:buClr>
                <a:schemeClr val="lt1"/>
              </a:buClr>
              <a:buSzPts val="1600"/>
              <a:buFont typeface="Arial"/>
              <a:buChar char="➔"/>
            </a:pPr>
            <a:r>
              <a:rPr lang="en-GB" sz="1600">
                <a:latin typeface="Arial"/>
                <a:ea typeface="Arial"/>
                <a:cs typeface="Arial"/>
                <a:sym typeface="Arial"/>
              </a:rPr>
              <a:t> Excellent performance on majority classes like 'Minor' and 'PDO'.</a:t>
            </a:r>
            <a:endParaRPr sz="1600">
              <a:latin typeface="Arial"/>
              <a:ea typeface="Arial"/>
              <a:cs typeface="Arial"/>
              <a:sym typeface="Arial"/>
            </a:endParaRPr>
          </a:p>
          <a:p>
            <a:pPr indent="-330200" lvl="0" marL="457200" rtl="0" algn="l">
              <a:lnSpc>
                <a:spcPct val="100000"/>
              </a:lnSpc>
              <a:spcBef>
                <a:spcPts val="0"/>
              </a:spcBef>
              <a:spcAft>
                <a:spcPts val="0"/>
              </a:spcAft>
              <a:buClr>
                <a:schemeClr val="lt1"/>
              </a:buClr>
              <a:buSzPts val="1600"/>
              <a:buFont typeface="Arial"/>
              <a:buChar char="➔"/>
            </a:pPr>
            <a:r>
              <a:rPr lang="en-GB" sz="1600">
                <a:latin typeface="Arial"/>
                <a:ea typeface="Arial"/>
                <a:cs typeface="Arial"/>
                <a:sym typeface="Arial"/>
              </a:rPr>
              <a:t> Lower F1-scores for minority classes like 'Fatal' and 'POD'.</a:t>
            </a:r>
            <a:endParaRPr sz="1600">
              <a:latin typeface="Arial"/>
              <a:ea typeface="Arial"/>
              <a:cs typeface="Arial"/>
              <a:sym typeface="Arial"/>
            </a:endParaRPr>
          </a:p>
          <a:p>
            <a:pPr indent="-330200" lvl="0" marL="457200" rtl="0" algn="l">
              <a:lnSpc>
                <a:spcPct val="100000"/>
              </a:lnSpc>
              <a:spcBef>
                <a:spcPts val="0"/>
              </a:spcBef>
              <a:spcAft>
                <a:spcPts val="0"/>
              </a:spcAft>
              <a:buClr>
                <a:schemeClr val="lt1"/>
              </a:buClr>
              <a:buSzPts val="1600"/>
              <a:buFont typeface="Arial"/>
              <a:buChar char="➔"/>
            </a:pPr>
            <a:r>
              <a:rPr lang="en-GB" sz="1600">
                <a:latin typeface="Arial"/>
                <a:ea typeface="Arial"/>
                <a:cs typeface="Arial"/>
                <a:sym typeface="Arial"/>
              </a:rPr>
              <a:t>This highlights the impact of class imbalance on the model's performance.</a:t>
            </a:r>
            <a:endParaRPr sz="1600">
              <a:latin typeface="Arial"/>
              <a:ea typeface="Arial"/>
              <a:cs typeface="Arial"/>
              <a:sym typeface="Arial"/>
            </a:endParaRPr>
          </a:p>
          <a:p>
            <a:pPr indent="0" lvl="0" marL="0" rtl="0" algn="l">
              <a:lnSpc>
                <a:spcPct val="100000"/>
              </a:lnSpc>
              <a:spcBef>
                <a:spcPts val="0"/>
              </a:spcBef>
              <a:spcAft>
                <a:spcPts val="0"/>
              </a:spcAft>
              <a:buNone/>
            </a:pPr>
            <a:r>
              <a:t/>
            </a:r>
            <a:endParaRPr sz="1600">
              <a:latin typeface="Arial"/>
              <a:ea typeface="Arial"/>
              <a:cs typeface="Arial"/>
              <a:sym typeface="Arial"/>
            </a:endParaRPr>
          </a:p>
          <a:p>
            <a:pPr indent="0" lvl="0" marL="0" rtl="0" algn="l">
              <a:spcBef>
                <a:spcPts val="0"/>
              </a:spcBef>
              <a:spcAft>
                <a:spcPts val="1200"/>
              </a:spcAft>
              <a:buNone/>
            </a:pPr>
            <a:r>
              <a:t/>
            </a:r>
            <a:endParaRPr b="1" sz="1600"/>
          </a:p>
        </p:txBody>
      </p:sp>
      <p:sp>
        <p:nvSpPr>
          <p:cNvPr id="204" name="Google Shape;20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05" name="Google Shape;205;p22"/>
          <p:cNvPicPr preferRelativeResize="0"/>
          <p:nvPr/>
        </p:nvPicPr>
        <p:blipFill>
          <a:blip r:embed="rId3">
            <a:alphaModFix/>
          </a:blip>
          <a:stretch>
            <a:fillRect/>
          </a:stretch>
        </p:blipFill>
        <p:spPr>
          <a:xfrm>
            <a:off x="368750" y="598075"/>
            <a:ext cx="8406499" cy="3378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1110750" y="47250"/>
            <a:ext cx="6922500" cy="46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sz="2700">
                <a:solidFill>
                  <a:srgbClr val="6D9EEB"/>
                </a:solidFill>
              </a:rPr>
              <a:t>Conclusion &amp; Potential Improvements</a:t>
            </a:r>
            <a:endParaRPr b="1" sz="2700">
              <a:solidFill>
                <a:srgbClr val="6D9EEB"/>
              </a:solidFill>
            </a:endParaRPr>
          </a:p>
        </p:txBody>
      </p:sp>
      <p:sp>
        <p:nvSpPr>
          <p:cNvPr id="211" name="Google Shape;211;p23"/>
          <p:cNvSpPr txBox="1"/>
          <p:nvPr>
            <p:ph idx="1" type="body"/>
          </p:nvPr>
        </p:nvSpPr>
        <p:spPr>
          <a:xfrm>
            <a:off x="893400" y="641300"/>
            <a:ext cx="7954500" cy="45456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rPr b="1" lang="en-GB" sz="6151"/>
              <a:t>Conclusion</a:t>
            </a:r>
            <a:endParaRPr b="1" sz="6151"/>
          </a:p>
          <a:p>
            <a:pPr indent="-326260" lvl="0" marL="457200" rtl="0" algn="l">
              <a:spcBef>
                <a:spcPts val="1200"/>
              </a:spcBef>
              <a:spcAft>
                <a:spcPts val="0"/>
              </a:spcAft>
              <a:buSzPct val="100000"/>
              <a:buChar char="❏"/>
            </a:pPr>
            <a:r>
              <a:rPr lang="en-GB" sz="6151"/>
              <a:t> Successfully built a neural network model with **96.7% accuracy**.</a:t>
            </a:r>
            <a:endParaRPr sz="6151"/>
          </a:p>
          <a:p>
            <a:pPr indent="-326260" lvl="0" marL="457200" rtl="0" algn="l">
              <a:spcBef>
                <a:spcPts val="0"/>
              </a:spcBef>
              <a:spcAft>
                <a:spcPts val="0"/>
              </a:spcAft>
              <a:buSzPct val="100000"/>
              <a:buChar char="❏"/>
            </a:pPr>
            <a:r>
              <a:rPr lang="en-GB" sz="6151"/>
              <a:t>The model is effective but shows some bias towards majority classes.</a:t>
            </a:r>
            <a:endParaRPr sz="6151"/>
          </a:p>
          <a:p>
            <a:pPr indent="-326260" lvl="0" marL="457200" rtl="0" algn="l">
              <a:spcBef>
                <a:spcPts val="0"/>
              </a:spcBef>
              <a:spcAft>
                <a:spcPts val="0"/>
              </a:spcAft>
              <a:buSzPct val="100000"/>
              <a:buChar char="❏"/>
            </a:pPr>
            <a:r>
              <a:rPr lang="en-GB" sz="6151"/>
              <a:t>The project highlights the importance of a structured workflow, from data cleaning to model evaluation.</a:t>
            </a:r>
            <a:endParaRPr sz="6151"/>
          </a:p>
          <a:p>
            <a:pPr indent="0" lvl="0" marL="0" rtl="0" algn="l">
              <a:spcBef>
                <a:spcPts val="1200"/>
              </a:spcBef>
              <a:spcAft>
                <a:spcPts val="0"/>
              </a:spcAft>
              <a:buNone/>
            </a:pPr>
            <a:r>
              <a:rPr b="1" lang="en-GB" sz="6151"/>
              <a:t>Potential Improvements</a:t>
            </a:r>
            <a:endParaRPr b="1" sz="6151"/>
          </a:p>
          <a:p>
            <a:pPr indent="-326260" lvl="0" marL="457200" rtl="0" algn="l">
              <a:spcBef>
                <a:spcPts val="1200"/>
              </a:spcBef>
              <a:spcAft>
                <a:spcPts val="0"/>
              </a:spcAft>
              <a:buSzPct val="100000"/>
              <a:buChar char="❏"/>
            </a:pPr>
            <a:r>
              <a:rPr lang="en-GB" sz="6151"/>
              <a:t>Advanced Imbalance Handling</a:t>
            </a:r>
            <a:endParaRPr sz="6151"/>
          </a:p>
          <a:p>
            <a:pPr indent="-326260" lvl="0" marL="457200" rtl="0" algn="l">
              <a:spcBef>
                <a:spcPts val="0"/>
              </a:spcBef>
              <a:spcAft>
                <a:spcPts val="0"/>
              </a:spcAft>
              <a:buSzPct val="100000"/>
              <a:buChar char="❏"/>
            </a:pPr>
            <a:r>
              <a:rPr lang="en-GB" sz="6151"/>
              <a:t>Use techniques like SMOTE (Synthetic Minority Over-sampling Technique) or focal loss.</a:t>
            </a:r>
            <a:endParaRPr sz="6151"/>
          </a:p>
          <a:p>
            <a:pPr indent="-326260" lvl="0" marL="457200" rtl="0" algn="l">
              <a:spcBef>
                <a:spcPts val="0"/>
              </a:spcBef>
              <a:spcAft>
                <a:spcPts val="0"/>
              </a:spcAft>
              <a:buSzPct val="100000"/>
              <a:buChar char="❏"/>
            </a:pPr>
            <a:r>
              <a:rPr b="1" lang="en-GB" sz="6151"/>
              <a:t>Feature Engineering </a:t>
            </a:r>
            <a:r>
              <a:rPr lang="en-GB" sz="6151"/>
              <a:t>: Create new features to provide more signal to the model.</a:t>
            </a:r>
            <a:endParaRPr sz="6151"/>
          </a:p>
          <a:p>
            <a:pPr indent="-326260" lvl="0" marL="457200" rtl="0" algn="l">
              <a:spcBef>
                <a:spcPts val="0"/>
              </a:spcBef>
              <a:spcAft>
                <a:spcPts val="0"/>
              </a:spcAft>
              <a:buSzPct val="100000"/>
              <a:buChar char="❏"/>
            </a:pPr>
            <a:r>
              <a:rPr b="1" lang="en-GB" sz="6151"/>
              <a:t>Hyperparameter Tuning :</a:t>
            </a:r>
            <a:r>
              <a:rPr lang="en-GB" sz="6151"/>
              <a:t> Systematically search for optimal hyperparameters.</a:t>
            </a:r>
            <a:endParaRPr sz="6151"/>
          </a:p>
          <a:p>
            <a:pPr indent="-326260" lvl="0" marL="457200" rtl="0" algn="l">
              <a:spcBef>
                <a:spcPts val="0"/>
              </a:spcBef>
              <a:spcAft>
                <a:spcPts val="0"/>
              </a:spcAft>
              <a:buSzPct val="100000"/>
              <a:buChar char="❏"/>
            </a:pPr>
            <a:r>
              <a:rPr b="1" lang="en-GB" sz="6151"/>
              <a:t>Use alternative Models : </a:t>
            </a:r>
            <a:r>
              <a:rPr lang="en-GB" sz="6151"/>
              <a:t> Explore other models like Gradient Boosting Machines (XGBoost, LightGBM).</a:t>
            </a:r>
            <a:endParaRPr sz="6151"/>
          </a:p>
          <a:p>
            <a:pPr indent="0" lvl="0" marL="0" rtl="0" algn="l">
              <a:spcBef>
                <a:spcPts val="1200"/>
              </a:spcBef>
              <a:spcAft>
                <a:spcPts val="1200"/>
              </a:spcAft>
              <a:buNone/>
            </a:pPr>
            <a:r>
              <a:t/>
            </a:r>
            <a:endParaRPr sz="6151"/>
          </a:p>
        </p:txBody>
      </p:sp>
      <p:sp>
        <p:nvSpPr>
          <p:cNvPr id="212" name="Google Shape;21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txBox="1"/>
          <p:nvPr>
            <p:ph type="title"/>
          </p:nvPr>
        </p:nvSpPr>
        <p:spPr>
          <a:xfrm>
            <a:off x="2965125" y="1140125"/>
            <a:ext cx="33924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4000">
                <a:solidFill>
                  <a:srgbClr val="6D9EEB"/>
                </a:solidFill>
              </a:rPr>
              <a:t>Thank You</a:t>
            </a:r>
            <a:endParaRPr sz="4000"/>
          </a:p>
        </p:txBody>
      </p:sp>
      <p:sp>
        <p:nvSpPr>
          <p:cNvPr id="218" name="Google Shape;21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19" name="Google Shape;219;p24"/>
          <p:cNvSpPr txBox="1"/>
          <p:nvPr/>
        </p:nvSpPr>
        <p:spPr>
          <a:xfrm>
            <a:off x="3524325" y="2341275"/>
            <a:ext cx="3298800" cy="21006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lt1"/>
              </a:buClr>
              <a:buSzPts val="2400"/>
              <a:buFont typeface="Lato"/>
              <a:buChar char="➢"/>
            </a:pPr>
            <a:r>
              <a:rPr lang="en-GB" sz="2400">
                <a:solidFill>
                  <a:schemeClr val="lt1"/>
                </a:solidFill>
                <a:latin typeface="Lato"/>
                <a:ea typeface="Lato"/>
                <a:cs typeface="Lato"/>
                <a:sym typeface="Lato"/>
              </a:rPr>
              <a:t>Tsedalu Ashenafi           </a:t>
            </a:r>
            <a:endParaRPr sz="2400">
              <a:solidFill>
                <a:schemeClr val="lt1"/>
              </a:solidFill>
              <a:latin typeface="Lato"/>
              <a:ea typeface="Lato"/>
              <a:cs typeface="Lato"/>
              <a:sym typeface="Lato"/>
            </a:endParaRPr>
          </a:p>
          <a:p>
            <a:pPr indent="-381000" lvl="0" marL="457200" rtl="0" algn="l">
              <a:spcBef>
                <a:spcPts val="0"/>
              </a:spcBef>
              <a:spcAft>
                <a:spcPts val="0"/>
              </a:spcAft>
              <a:buClr>
                <a:schemeClr val="lt1"/>
              </a:buClr>
              <a:buSzPts val="2400"/>
              <a:buFont typeface="Lato"/>
              <a:buChar char="➢"/>
            </a:pPr>
            <a:r>
              <a:rPr lang="en-GB" sz="2400">
                <a:solidFill>
                  <a:schemeClr val="lt1"/>
                </a:solidFill>
                <a:latin typeface="Lato"/>
                <a:ea typeface="Lato"/>
                <a:cs typeface="Lato"/>
                <a:sym typeface="Lato"/>
              </a:rPr>
              <a:t>Yahwenesi Elias</a:t>
            </a:r>
            <a:endParaRPr sz="2400">
              <a:solidFill>
                <a:schemeClr val="lt1"/>
              </a:solidFill>
              <a:latin typeface="Lato"/>
              <a:ea typeface="Lato"/>
              <a:cs typeface="Lato"/>
              <a:sym typeface="Lato"/>
            </a:endParaRPr>
          </a:p>
          <a:p>
            <a:pPr indent="-381000" lvl="0" marL="457200" rtl="0" algn="l">
              <a:spcBef>
                <a:spcPts val="0"/>
              </a:spcBef>
              <a:spcAft>
                <a:spcPts val="0"/>
              </a:spcAft>
              <a:buClr>
                <a:schemeClr val="lt1"/>
              </a:buClr>
              <a:buSzPts val="2400"/>
              <a:buFont typeface="Lato"/>
              <a:buChar char="➢"/>
            </a:pPr>
            <a:r>
              <a:rPr lang="en-GB" sz="2400">
                <a:solidFill>
                  <a:schemeClr val="lt1"/>
                </a:solidFill>
                <a:latin typeface="Lato"/>
                <a:ea typeface="Lato"/>
                <a:cs typeface="Lato"/>
                <a:sym typeface="Lato"/>
              </a:rPr>
              <a:t>Semir Sultan</a:t>
            </a:r>
            <a:endParaRPr sz="2400">
              <a:solidFill>
                <a:schemeClr val="lt1"/>
              </a:solidFill>
              <a:latin typeface="Lato"/>
              <a:ea typeface="Lato"/>
              <a:cs typeface="Lato"/>
              <a:sym typeface="Lato"/>
            </a:endParaRPr>
          </a:p>
          <a:p>
            <a:pPr indent="-381000" lvl="0" marL="457200" rtl="0" algn="l">
              <a:spcBef>
                <a:spcPts val="0"/>
              </a:spcBef>
              <a:spcAft>
                <a:spcPts val="0"/>
              </a:spcAft>
              <a:buClr>
                <a:schemeClr val="lt1"/>
              </a:buClr>
              <a:buSzPts val="2400"/>
              <a:buFont typeface="Lato"/>
              <a:buChar char="➢"/>
            </a:pPr>
            <a:r>
              <a:rPr lang="en-GB" sz="2400">
                <a:solidFill>
                  <a:schemeClr val="lt1"/>
                </a:solidFill>
                <a:latin typeface="Lato"/>
                <a:ea typeface="Lato"/>
                <a:cs typeface="Lato"/>
                <a:sym typeface="Lato"/>
              </a:rPr>
              <a:t>Imran Getu</a:t>
            </a:r>
            <a:endParaRPr sz="2400">
              <a:solidFill>
                <a:schemeClr val="lt1"/>
              </a:solidFill>
              <a:latin typeface="Lato"/>
              <a:ea typeface="Lato"/>
              <a:cs typeface="Lato"/>
              <a:sym typeface="Lato"/>
            </a:endParaRPr>
          </a:p>
          <a:p>
            <a:pPr indent="-381000" lvl="0" marL="457200" rtl="0" algn="l">
              <a:spcBef>
                <a:spcPts val="0"/>
              </a:spcBef>
              <a:spcAft>
                <a:spcPts val="0"/>
              </a:spcAft>
              <a:buClr>
                <a:schemeClr val="lt1"/>
              </a:buClr>
              <a:buSzPts val="2400"/>
              <a:buFont typeface="Lato"/>
              <a:buChar char="➢"/>
            </a:pPr>
            <a:r>
              <a:rPr lang="en-GB" sz="2400">
                <a:solidFill>
                  <a:schemeClr val="lt1"/>
                </a:solidFill>
                <a:latin typeface="Lato"/>
                <a:ea typeface="Lato"/>
                <a:cs typeface="Lato"/>
                <a:sym typeface="Lato"/>
              </a:rPr>
              <a:t> Wakene Tamiru</a:t>
            </a:r>
            <a:endParaRPr sz="2400">
              <a:solidFill>
                <a:schemeClr val="lt1"/>
              </a:solidFill>
              <a:latin typeface="Lato"/>
              <a:ea typeface="Lato"/>
              <a:cs typeface="Lato"/>
              <a:sym typeface="Lato"/>
            </a:endParaRPr>
          </a:p>
          <a:p>
            <a:pPr indent="0" lvl="0" marL="0" rtl="0" algn="l">
              <a:spcBef>
                <a:spcPts val="0"/>
              </a:spcBef>
              <a:spcAft>
                <a:spcPts val="0"/>
              </a:spcAft>
              <a:buNone/>
            </a:pPr>
            <a:r>
              <a:rPr lang="en-GB" sz="2400">
                <a:solidFill>
                  <a:schemeClr val="lt1"/>
                </a:solidFill>
                <a:latin typeface="Lato"/>
                <a:ea typeface="Lato"/>
                <a:cs typeface="Lato"/>
                <a:sym typeface="Lato"/>
              </a:rPr>
              <a:t>                    </a:t>
            </a:r>
            <a:endParaRPr sz="2400">
              <a:solidFill>
                <a:schemeClr val="lt1"/>
              </a:solidFill>
              <a:latin typeface="Lato"/>
              <a:ea typeface="Lato"/>
              <a:cs typeface="Lato"/>
              <a:sym typeface="Lato"/>
            </a:endParaRPr>
          </a:p>
        </p:txBody>
      </p:sp>
      <p:sp>
        <p:nvSpPr>
          <p:cNvPr id="220" name="Google Shape;220;p24"/>
          <p:cNvSpPr txBox="1"/>
          <p:nvPr>
            <p:ph type="title"/>
          </p:nvPr>
        </p:nvSpPr>
        <p:spPr>
          <a:xfrm>
            <a:off x="1904750" y="2341275"/>
            <a:ext cx="1442400" cy="50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000">
                <a:solidFill>
                  <a:srgbClr val="6D9EEB"/>
                </a:solidFill>
              </a:rPr>
              <a:t>Done by : </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